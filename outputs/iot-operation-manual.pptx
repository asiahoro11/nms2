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6F24547-BD71-44AB-9322-780B443B57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B8BC93-00CD-4E29-BC32-5862DCFBAC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F2D5D4-46AD-417E-8E53-FD2EC2D1FF03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851EA2-86D3-4208-82EB-323F57AEE7CB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EACA77-20A1-4916-9AF1-4EEC6C661CA2}"/>
              </a:ext>
            </a:extLst>
          </p:cNvPr>
          <p:cNvSpPr>
            <a:spLocks noGrp="1"/>
          </p:cNvSpPr>
          <p:nvPr/>
        </p:nvSpPr>
        <p:spPr>
          <a:xfrm>
            <a:off x="342900" y="390525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IoT / Modbus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64D95E-75F8-45E5-81BC-6DBA6F9771A3}"/>
              </a:ext>
            </a:extLst>
          </p:cNvPr>
          <p:cNvSpPr>
            <a:spLocks noGrp="1"/>
          </p:cNvSpPr>
          <p:nvPr/>
        </p:nvSpPr>
        <p:spPr>
          <a:xfrm>
            <a:off x="381000" y="1152525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4B8A6"/>
                </a:solidFill>
              </a:defRPr>
            </a:pPr>
            <a:r>
              <a:rPr sz="2550" b="1">
                <a:solidFill>
                  <a:srgbClr val="14B8A6"/>
                </a:solidFill>
              </a:rPr>
              <a:t>功能頁面截圖式操作手冊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7B2ECF-53E5-4AC1-B820-82EAA9043882}"/>
              </a:ext>
            </a:extLst>
          </p:cNvPr>
          <p:cNvSpPr>
            <a:spLocks noGrp="1"/>
          </p:cNvSpPr>
          <p:nvPr/>
        </p:nvSpPr>
        <p:spPr>
          <a:xfrm>
            <a:off x="381000" y="1819275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B9C2D3"/>
                </a:solidFill>
              </a:defRPr>
            </a:pPr>
            <a:r>
              <a:rPr sz="1650" b="0" dirty="0" err="1">
                <a:solidFill>
                  <a:srgbClr val="B9C2D3"/>
                </a:solidFill>
              </a:rPr>
              <a:t>每個功能先看真實頁面，再看該頁面的功能細項與現場操作重點</a:t>
            </a:r>
            <a:r>
              <a:rPr sz="1650" b="0" dirty="0">
                <a:solidFill>
                  <a:srgbClr val="B9C2D3"/>
                </a:solidFill>
              </a:rPr>
              <a:t>。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3372A909-A45B-4D46-59CD-6FB851637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15" y="2333626"/>
            <a:ext cx="12055885" cy="442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32BA73C-5372-4761-AB81-598BF0FDBD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66B7E2-64FC-4C9E-AFCA-7F0BE5BB32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8C276A-6218-4565-BEDB-B713E57201D3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功能頁面：IoT 首頁總覽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2CF0E5-7784-4503-B62C-8DEC9DDE92A7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摘要統計、支援協定與閘道測試集中在這一頁。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C1265F-D28D-4677-AF5D-90FF4355555F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77C738-F96D-43F7-B81D-E6FBBB78FD44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02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16591" y="1299236"/>
            <a:ext cx="8719608" cy="5158714"/>
          </a:xfrm>
          <a:prstGeom prst="roundRect">
            <a:avLst>
              <a:gd name="adj" fmla="val 2353"/>
            </a:avLst>
          </a:prstGeom>
        </p:spPr>
      </p:pic>
    </p:spTree>
    <p:extLst>
      <p:ext uri="{BB962C8B-B14F-4D97-AF65-F5344CB8AC3E}">
        <p14:creationId xmlns:p14="http://schemas.microsoft.com/office/powerpoint/2010/main" val="887357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811D19B8-7395-4F4E-87F2-C0F33F4D7E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30197A-AB75-4FCC-B91F-084D8BF1B1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9670E7-3833-4491-AF46-786ED03C0574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功能細項：IoT 首頁總覽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B976A9-AFDB-4BA2-AB58-41777C02C16D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這一頁用來判斷模組是否正常、協定是否支援，以及外部閘道是否能推資料。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306BF9-BEFE-4FC7-98CB-9CDFF73B5BF3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0182BC-A50C-4E0F-81D1-8BC389974BF2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03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790DF70-697B-42F6-8ECA-A15848DE7997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3286125" cy="1714500"/>
          </a:xfrm>
          <a:prstGeom prst="roundRect">
            <a:avLst>
              <a:gd name="adj" fmla="val 6667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5BB269-97AC-4E98-B3AD-0D12EC54FDD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7150" cy="171450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766EC1-8B0A-4033-9F39-5384D0C7A431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摘要統計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10D4C3-4EEE-4379-8051-BD31D22CE63C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29051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設備總數、已啟用、量測筆數、待發送、發送失敗與已發送暫存。現場先看這裡確認資料流是否有進來。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492887E-4848-429C-82D5-085EA77F05A1}"/>
              </a:ext>
            </a:extLst>
          </p:cNvPr>
          <p:cNvSpPr>
            <a:spLocks noGrp="1"/>
          </p:cNvSpPr>
          <p:nvPr/>
        </p:nvSpPr>
        <p:spPr>
          <a:xfrm>
            <a:off x="4457700" y="1428750"/>
            <a:ext cx="3286125" cy="1714500"/>
          </a:xfrm>
          <a:prstGeom prst="roundRect">
            <a:avLst>
              <a:gd name="adj" fmla="val 6667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CD6F44-D1B7-4C06-B363-10C67C27D4E0}"/>
              </a:ext>
            </a:extLst>
          </p:cNvPr>
          <p:cNvSpPr>
            <a:spLocks noGrp="1"/>
          </p:cNvSpPr>
          <p:nvPr/>
        </p:nvSpPr>
        <p:spPr>
          <a:xfrm>
            <a:off x="4457700" y="1428750"/>
            <a:ext cx="57150" cy="17145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BB29C-0523-4144-ADDF-AD513CBA866F}"/>
              </a:ext>
            </a:extLst>
          </p:cNvPr>
          <p:cNvSpPr>
            <a:spLocks noGrp="1"/>
          </p:cNvSpPr>
          <p:nvPr/>
        </p:nvSpPr>
        <p:spPr>
          <a:xfrm>
            <a:off x="4667250" y="1581150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支援協定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5181B2-D3B4-4306-A019-EA23D8B41AB2}"/>
              </a:ext>
            </a:extLst>
          </p:cNvPr>
          <p:cNvSpPr>
            <a:spLocks noGrp="1"/>
          </p:cNvSpPr>
          <p:nvPr/>
        </p:nvSpPr>
        <p:spPr>
          <a:xfrm>
            <a:off x="4667250" y="1943100"/>
            <a:ext cx="29051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列出 Modbus TCP、RTU、RS485、RTU over TCP、REST/Webhook、HTTP Forward Queue 等能力與狀態。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90495FA-7A13-4B74-973F-2B1626B3FDDD}"/>
              </a:ext>
            </a:extLst>
          </p:cNvPr>
          <p:cNvSpPr>
            <a:spLocks noGrp="1"/>
          </p:cNvSpPr>
          <p:nvPr/>
        </p:nvSpPr>
        <p:spPr>
          <a:xfrm>
            <a:off x="8248650" y="1428750"/>
            <a:ext cx="3286125" cy="1714500"/>
          </a:xfrm>
          <a:prstGeom prst="roundRect">
            <a:avLst>
              <a:gd name="adj" fmla="val 6667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0630FD-5A1D-4FD1-B0AF-A10B7E6C0587}"/>
              </a:ext>
            </a:extLst>
          </p:cNvPr>
          <p:cNvSpPr>
            <a:spLocks noGrp="1"/>
          </p:cNvSpPr>
          <p:nvPr/>
        </p:nvSpPr>
        <p:spPr>
          <a:xfrm>
            <a:off x="8248650" y="1428750"/>
            <a:ext cx="57150" cy="17145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52DC7D-646A-4A64-947C-5D16140AEB9E}"/>
              </a:ext>
            </a:extLst>
          </p:cNvPr>
          <p:cNvSpPr>
            <a:spLocks noGrp="1"/>
          </p:cNvSpPr>
          <p:nvPr/>
        </p:nvSpPr>
        <p:spPr>
          <a:xfrm>
            <a:off x="8458200" y="1581150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閘道器測試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B49E84-1DFA-4033-A839-EF1EF976053C}"/>
              </a:ext>
            </a:extLst>
          </p:cNvPr>
          <p:cNvSpPr>
            <a:spLocks noGrp="1"/>
          </p:cNvSpPr>
          <p:nvPr/>
        </p:nvSpPr>
        <p:spPr>
          <a:xfrm>
            <a:off x="8458200" y="1943100"/>
            <a:ext cx="29051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用 REST / MQTT / OPC-UA / BACnet gateway ingest 模擬外部系統推值進 NMS。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B93B86-2184-4BA9-A3F0-60EFAB05364F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23812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871C4A-CCF7-4B73-B34E-94FAA0FAFB50}"/>
              </a:ext>
            </a:extLst>
          </p:cNvPr>
          <p:cNvSpPr>
            <a:spLocks noGrp="1"/>
          </p:cNvSpPr>
          <p:nvPr/>
        </p:nvSpPr>
        <p:spPr>
          <a:xfrm>
            <a:off x="952500" y="37719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操作項目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93071A-F175-4D19-B859-2CFBA1091CA0}"/>
              </a:ext>
            </a:extLst>
          </p:cNvPr>
          <p:cNvSpPr>
            <a:spLocks noGrp="1"/>
          </p:cNvSpPr>
          <p:nvPr/>
        </p:nvSpPr>
        <p:spPr>
          <a:xfrm>
            <a:off x="3238500" y="3695700"/>
            <a:ext cx="36195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21A49A-2D98-4429-8991-9A086A054A0A}"/>
              </a:ext>
            </a:extLst>
          </p:cNvPr>
          <p:cNvSpPr>
            <a:spLocks noGrp="1"/>
          </p:cNvSpPr>
          <p:nvPr/>
        </p:nvSpPr>
        <p:spPr>
          <a:xfrm>
            <a:off x="3333750" y="37719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何時使用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140DA6-CE80-4FB0-936A-3737691B8C90}"/>
              </a:ext>
            </a:extLst>
          </p:cNvPr>
          <p:cNvSpPr>
            <a:spLocks noGrp="1"/>
          </p:cNvSpPr>
          <p:nvPr/>
        </p:nvSpPr>
        <p:spPr>
          <a:xfrm>
            <a:off x="6858000" y="3695700"/>
            <a:ext cx="45720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FF9636C-7F8F-4C52-9A8D-89BBFF6EC2E9}"/>
              </a:ext>
            </a:extLst>
          </p:cNvPr>
          <p:cNvSpPr>
            <a:spLocks noGrp="1"/>
          </p:cNvSpPr>
          <p:nvPr/>
        </p:nvSpPr>
        <p:spPr>
          <a:xfrm>
            <a:off x="6953250" y="37719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注意事項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FB453D-5280-44C3-80EA-EB716D3EA90A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2381250" cy="5524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269E9D-792D-49A4-9A96-9EDFB14B1D2B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刷新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D6C258-514C-4767-9D17-BD62E304A9F5}"/>
              </a:ext>
            </a:extLst>
          </p:cNvPr>
          <p:cNvSpPr>
            <a:spLocks noGrp="1"/>
          </p:cNvSpPr>
          <p:nvPr/>
        </p:nvSpPr>
        <p:spPr>
          <a:xfrm>
            <a:off x="3238500" y="4095750"/>
            <a:ext cx="3619500" cy="5524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515F69F-8905-4057-962F-88CD21A3EF82}"/>
              </a:ext>
            </a:extLst>
          </p:cNvPr>
          <p:cNvSpPr>
            <a:spLocks noGrp="1"/>
          </p:cNvSpPr>
          <p:nvPr/>
        </p:nvSpPr>
        <p:spPr>
          <a:xfrm>
            <a:off x="3333750" y="41719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設備或量測資料更新後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1AE83E-39AE-4387-99FA-25C52914ADD3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4572000" cy="5524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989455-E30E-4E55-8B5A-7501E876242A}"/>
              </a:ext>
            </a:extLst>
          </p:cNvPr>
          <p:cNvSpPr>
            <a:spLocks noGrp="1"/>
          </p:cNvSpPr>
          <p:nvPr/>
        </p:nvSpPr>
        <p:spPr>
          <a:xfrm>
            <a:off x="6953250" y="41719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只更新 IoT 頁資料，不需重新登入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125C73-0197-4C67-AB86-EDA81950B0EE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381250" cy="5524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83608E4-9CE6-476D-87A4-5431629D9C61}"/>
              </a:ext>
            </a:extLst>
          </p:cNvPr>
          <p:cNvSpPr>
            <a:spLocks noGrp="1"/>
          </p:cNvSpPr>
          <p:nvPr/>
        </p:nvSpPr>
        <p:spPr>
          <a:xfrm>
            <a:off x="952500" y="472440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新增設備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7E20D02-F100-4F17-BA65-9C8D9A9500ED}"/>
              </a:ext>
            </a:extLst>
          </p:cNvPr>
          <p:cNvSpPr>
            <a:spLocks noGrp="1"/>
          </p:cNvSpPr>
          <p:nvPr/>
        </p:nvSpPr>
        <p:spPr>
          <a:xfrm>
            <a:off x="3238500" y="4648200"/>
            <a:ext cx="3619500" cy="5524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D807823-A38B-4A94-8AE6-F5C7CFA0FBEF}"/>
              </a:ext>
            </a:extLst>
          </p:cNvPr>
          <p:cNvSpPr>
            <a:spLocks noGrp="1"/>
          </p:cNvSpPr>
          <p:nvPr/>
        </p:nvSpPr>
        <p:spPr>
          <a:xfrm>
            <a:off x="3333750" y="4724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要建立 Modbus 輪詢點位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1D7F5C1-53D1-4540-8BF9-EBC8BD19EB13}"/>
              </a:ext>
            </a:extLst>
          </p:cNvPr>
          <p:cNvSpPr>
            <a:spLocks noGrp="1"/>
          </p:cNvSpPr>
          <p:nvPr/>
        </p:nvSpPr>
        <p:spPr>
          <a:xfrm>
            <a:off x="6858000" y="4648200"/>
            <a:ext cx="4572000" cy="5524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F923F1E-1C70-4F32-AB00-BF30B53C9FAA}"/>
              </a:ext>
            </a:extLst>
          </p:cNvPr>
          <p:cNvSpPr>
            <a:spLocks noGrp="1"/>
          </p:cNvSpPr>
          <p:nvPr/>
        </p:nvSpPr>
        <p:spPr>
          <a:xfrm>
            <a:off x="6953250" y="472440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Admin 才能操作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2F4CB1B-E26D-4ABA-A75D-96CB328AD374}"/>
              </a:ext>
            </a:extLst>
          </p:cNvPr>
          <p:cNvSpPr>
            <a:spLocks noGrp="1"/>
          </p:cNvSpPr>
          <p:nvPr/>
        </p:nvSpPr>
        <p:spPr>
          <a:xfrm>
            <a:off x="857250" y="5200650"/>
            <a:ext cx="2381250" cy="5524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A75C495-BB78-42F5-803C-0B8DCCA32D2D}"/>
              </a:ext>
            </a:extLst>
          </p:cNvPr>
          <p:cNvSpPr>
            <a:spLocks noGrp="1"/>
          </p:cNvSpPr>
          <p:nvPr/>
        </p:nvSpPr>
        <p:spPr>
          <a:xfrm>
            <a:off x="952500" y="52768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Send Ingest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9D1DEB3-AD1E-400E-B5F7-83E621F863DB}"/>
              </a:ext>
            </a:extLst>
          </p:cNvPr>
          <p:cNvSpPr>
            <a:spLocks noGrp="1"/>
          </p:cNvSpPr>
          <p:nvPr/>
        </p:nvSpPr>
        <p:spPr>
          <a:xfrm>
            <a:off x="3238500" y="5200650"/>
            <a:ext cx="3619500" cy="5524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F6A6428-6189-4DC3-B56D-12F5903176B6}"/>
              </a:ext>
            </a:extLst>
          </p:cNvPr>
          <p:cNvSpPr>
            <a:spLocks noGrp="1"/>
          </p:cNvSpPr>
          <p:nvPr/>
        </p:nvSpPr>
        <p:spPr>
          <a:xfrm>
            <a:off x="3333750" y="52768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測試外部 gateway 推送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312656-2479-4723-AB09-1C0B0C7060EA}"/>
              </a:ext>
            </a:extLst>
          </p:cNvPr>
          <p:cNvSpPr>
            <a:spLocks noGrp="1"/>
          </p:cNvSpPr>
          <p:nvPr/>
        </p:nvSpPr>
        <p:spPr>
          <a:xfrm>
            <a:off x="6858000" y="5200650"/>
            <a:ext cx="4572000" cy="5524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BA5A0D7-75B8-4C3F-AD90-2ACC33931BC8}"/>
              </a:ext>
            </a:extLst>
          </p:cNvPr>
          <p:cNvSpPr>
            <a:spLocks noGrp="1"/>
          </p:cNvSpPr>
          <p:nvPr/>
        </p:nvSpPr>
        <p:spPr>
          <a:xfrm>
            <a:off x="6953250" y="52768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成功後最近量測應新增一筆資料</a:t>
            </a:r>
          </a:p>
        </p:txBody>
      </p:sp>
    </p:spTree>
    <p:extLst>
      <p:ext uri="{BB962C8B-B14F-4D97-AF65-F5344CB8AC3E}">
        <p14:creationId xmlns:p14="http://schemas.microsoft.com/office/powerpoint/2010/main" val="50905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EB5C278-0CAA-4419-83F8-D383FD4F1B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5996D5-39E9-4E07-AE4B-A0D8911349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5CB5AC-32D2-4E40-AAE8-C4510D36A157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功能頁面：線上模組總覽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4252AE-4843-4CA2-8AC0-819902816F6D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此頁以卡片方式顯示已啟用感測器的最新讀值。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02BD47-34A8-4E6A-B843-1DC352C2DB6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5C77BC-130B-4041-8A0A-B71EA47CA3E3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04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9800" y="1257300"/>
            <a:ext cx="777240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BA44FFF-AC11-46FA-9253-1D8D8F35300E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9C2D3"/>
                </a:solidFill>
              </a:defRPr>
            </a:pPr>
            <a:r>
              <a:rPr sz="1125" b="0">
                <a:solidFill>
                  <a:srgbClr val="B9C2D3"/>
                </a:solidFill>
              </a:rPr>
              <a:t>目前測試環境尚未建立設備，因此畫面顯示尚未設定任何設備。</a:t>
            </a:r>
          </a:p>
        </p:txBody>
      </p:sp>
    </p:spTree>
    <p:extLst>
      <p:ext uri="{BB962C8B-B14F-4D97-AF65-F5344CB8AC3E}">
        <p14:creationId xmlns:p14="http://schemas.microsoft.com/office/powerpoint/2010/main" val="166095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17C746C-EF5C-4521-A225-1733B179A0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3A420B-3821-433F-8D11-B9A6C4B30F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657E80-3914-4425-A45C-F84DC2AEFE3C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功能細項：線上模組總覽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476DB2-3C5A-4834-B009-5892756D71A2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新增設備並成功 Poll 後，這一頁會變成現場感測器儀表板。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1E3AD7-5828-45AB-82B6-677E709AB3DB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37284A-9161-44AD-9974-797467FC6258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05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C93463D-0B8A-4886-9A93-306F86E32352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3143250" cy="1714500"/>
          </a:xfrm>
          <a:prstGeom prst="roundRect">
            <a:avLst>
              <a:gd name="adj" fmla="val 6667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F710EF-7945-40A2-AA00-BFB57AE51146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57150" cy="17145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FAC483-C943-49DB-A187-6DBDED3E4067}"/>
              </a:ext>
            </a:extLst>
          </p:cNvPr>
          <p:cNvSpPr>
            <a:spLocks noGrp="1"/>
          </p:cNvSpPr>
          <p:nvPr/>
        </p:nvSpPr>
        <p:spPr>
          <a:xfrm>
            <a:off x="1085850" y="15811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感測器卡片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3616D7-28CC-49B4-8F80-5E673F71C567}"/>
              </a:ext>
            </a:extLst>
          </p:cNvPr>
          <p:cNvSpPr>
            <a:spLocks noGrp="1"/>
          </p:cNvSpPr>
          <p:nvPr/>
        </p:nvSpPr>
        <p:spPr>
          <a:xfrm>
            <a:off x="1085850" y="1943100"/>
            <a:ext cx="27622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顯示設備名稱、協定、Unit ID、最新值與單位。溫濕度類型會分別顯示溫度與濕度。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4822548-A606-416A-8256-862158641F3C}"/>
              </a:ext>
            </a:extLst>
          </p:cNvPr>
          <p:cNvSpPr>
            <a:spLocks noGrp="1"/>
          </p:cNvSpPr>
          <p:nvPr/>
        </p:nvSpPr>
        <p:spPr>
          <a:xfrm>
            <a:off x="4524375" y="1428750"/>
            <a:ext cx="3143250" cy="1714500"/>
          </a:xfrm>
          <a:prstGeom prst="roundRect">
            <a:avLst>
              <a:gd name="adj" fmla="val 6667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C15078-A4D7-4A79-806F-12E6F9852A77}"/>
              </a:ext>
            </a:extLst>
          </p:cNvPr>
          <p:cNvSpPr>
            <a:spLocks noGrp="1"/>
          </p:cNvSpPr>
          <p:nvPr/>
        </p:nvSpPr>
        <p:spPr>
          <a:xfrm>
            <a:off x="4524375" y="1428750"/>
            <a:ext cx="57150" cy="17145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FB156B-A4B0-4437-81C4-7FA11F10D540}"/>
              </a:ext>
            </a:extLst>
          </p:cNvPr>
          <p:cNvSpPr>
            <a:spLocks noGrp="1"/>
          </p:cNvSpPr>
          <p:nvPr/>
        </p:nvSpPr>
        <p:spPr>
          <a:xfrm>
            <a:off x="4733925" y="15811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狀態判斷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6C1209-87E2-4EAD-9F95-294AB53CBA09}"/>
              </a:ext>
            </a:extLst>
          </p:cNvPr>
          <p:cNvSpPr>
            <a:spLocks noGrp="1"/>
          </p:cNvSpPr>
          <p:nvPr/>
        </p:nvSpPr>
        <p:spPr>
          <a:xfrm>
            <a:off x="4733925" y="1943100"/>
            <a:ext cx="27622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Online 代表最近一次輪詢成功；Offline 代表尚未有成功讀值；Error 代表最近一次輪詢失敗。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B7C0E8B-FC7D-4F74-8ACF-13CC0DA034BC}"/>
              </a:ext>
            </a:extLst>
          </p:cNvPr>
          <p:cNvSpPr>
            <a:spLocks noGrp="1"/>
          </p:cNvSpPr>
          <p:nvPr/>
        </p:nvSpPr>
        <p:spPr>
          <a:xfrm>
            <a:off x="8172450" y="1428750"/>
            <a:ext cx="3143250" cy="1714500"/>
          </a:xfrm>
          <a:prstGeom prst="roundRect">
            <a:avLst>
              <a:gd name="adj" fmla="val 6667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C35FB3-155F-4B06-A36C-D7329171C751}"/>
              </a:ext>
            </a:extLst>
          </p:cNvPr>
          <p:cNvSpPr>
            <a:spLocks noGrp="1"/>
          </p:cNvSpPr>
          <p:nvPr/>
        </p:nvSpPr>
        <p:spPr>
          <a:xfrm>
            <a:off x="8172450" y="1428750"/>
            <a:ext cx="57150" cy="171450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9D1A41-EC5A-42E7-8312-949A8251D8AA}"/>
              </a:ext>
            </a:extLst>
          </p:cNvPr>
          <p:cNvSpPr>
            <a:spLocks noGrp="1"/>
          </p:cNvSpPr>
          <p:nvPr/>
        </p:nvSpPr>
        <p:spPr>
          <a:xfrm>
            <a:off x="8382000" y="15811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現場用途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1471B7D-2744-40B8-A632-413EAFCD7063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27622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巡檢時先看這頁，快速判斷哪些感測器有值、哪些設備需要檢查。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55F8198-84E3-47D5-8177-C5BBE8A7EE44}"/>
              </a:ext>
            </a:extLst>
          </p:cNvPr>
          <p:cNvSpPr>
            <a:spLocks noGrp="1"/>
          </p:cNvSpPr>
          <p:nvPr/>
        </p:nvSpPr>
        <p:spPr>
          <a:xfrm>
            <a:off x="1200150" y="4067175"/>
            <a:ext cx="95250" cy="9525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338444-DCBE-425F-A1DE-ABF8C76FF0FB}"/>
              </a:ext>
            </a:extLst>
          </p:cNvPr>
          <p:cNvSpPr>
            <a:spLocks noGrp="1"/>
          </p:cNvSpPr>
          <p:nvPr/>
        </p:nvSpPr>
        <p:spPr>
          <a:xfrm>
            <a:off x="1428750" y="4000500"/>
            <a:ext cx="910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新增設備後先按 Poll，確認卡片出現合理數值。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5E364506-77C9-4B18-85D2-E4B366251891}"/>
              </a:ext>
            </a:extLst>
          </p:cNvPr>
          <p:cNvSpPr>
            <a:spLocks noGrp="1"/>
          </p:cNvSpPr>
          <p:nvPr/>
        </p:nvSpPr>
        <p:spPr>
          <a:xfrm>
            <a:off x="1200150" y="4543425"/>
            <a:ext cx="95250" cy="9525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1DF556-6C7E-4372-8D2B-B6690301EBE9}"/>
              </a:ext>
            </a:extLst>
          </p:cNvPr>
          <p:cNvSpPr>
            <a:spLocks noGrp="1"/>
          </p:cNvSpPr>
          <p:nvPr/>
        </p:nvSpPr>
        <p:spPr>
          <a:xfrm>
            <a:off x="1428750" y="4476750"/>
            <a:ext cx="910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若卡片一直空白，回到設備管理檢查 Last error。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A149BCA9-F16A-418E-B617-17D59D798C67}"/>
              </a:ext>
            </a:extLst>
          </p:cNvPr>
          <p:cNvSpPr>
            <a:spLocks noGrp="1"/>
          </p:cNvSpPr>
          <p:nvPr/>
        </p:nvSpPr>
        <p:spPr>
          <a:xfrm>
            <a:off x="1200150" y="5019675"/>
            <a:ext cx="95250" cy="9525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ABB529-B5F2-4ACF-B574-5F6A3FD92EDC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10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若數值差 10 倍或 100 倍，優先調整 Scale。</a:t>
            </a:r>
          </a:p>
        </p:txBody>
      </p:sp>
    </p:spTree>
    <p:extLst>
      <p:ext uri="{BB962C8B-B14F-4D97-AF65-F5344CB8AC3E}">
        <p14:creationId xmlns:p14="http://schemas.microsoft.com/office/powerpoint/2010/main" val="180978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A3046B8-CF30-4530-89C8-18D596FBF2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E95EA6-29BC-4421-A34E-A434408DBD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BB7408-BC21-45B7-B7A5-2CA9FEC72F00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功能頁面：設備管理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B92E64-CE85-4AD4-B762-87F5CDBD7FE5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設備清單與最近量測表集中在同一個分頁。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CDD8BB-B2C1-4180-BEC9-254C81928E3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B24A26-5169-4A05-B713-731524679E0A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06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9800" y="1257300"/>
            <a:ext cx="777240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55EE246-7605-48C6-A3B4-898488747B2F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9C2D3"/>
                </a:solidFill>
              </a:defRPr>
            </a:pPr>
            <a:r>
              <a:rPr sz="1125" b="0">
                <a:solidFill>
                  <a:srgbClr val="B9C2D3"/>
                </a:solidFill>
              </a:rPr>
              <a:t>上方表格是設備設定，下方表格是量測紀錄。</a:t>
            </a:r>
          </a:p>
        </p:txBody>
      </p:sp>
    </p:spTree>
    <p:extLst>
      <p:ext uri="{BB962C8B-B14F-4D97-AF65-F5344CB8AC3E}">
        <p14:creationId xmlns:p14="http://schemas.microsoft.com/office/powerpoint/2010/main" val="1720578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F2B3396E-18ED-4F87-9CA8-F1943BDC53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48B738-2AA0-46D3-8AA1-C3186829D8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FD4C0D-F9CC-4DEC-8368-F720F3EAEE8C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功能細項：設備管理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3872F6-B630-43E4-874B-0CCE3B9442CD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這一頁是日常維護點位的主要工作區。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DD85CC-7038-42A1-A82B-D90731244BA0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42C1C7-426B-4A81-8189-CC4F35E35E34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F95362-E76F-41DB-9D68-36430DB463E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0002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F4F3C1-4DFE-4B43-93E0-A88EE47A8629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欄位 / 按鈕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3DF34E-88AD-4F03-861F-C17BE7D76FD3}"/>
              </a:ext>
            </a:extLst>
          </p:cNvPr>
          <p:cNvSpPr>
            <a:spLocks noGrp="1"/>
          </p:cNvSpPr>
          <p:nvPr/>
        </p:nvSpPr>
        <p:spPr>
          <a:xfrm>
            <a:off x="2686050" y="1428750"/>
            <a:ext cx="34290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DE24F1-7484-458D-99B9-BECBEA5782D8}"/>
              </a:ext>
            </a:extLst>
          </p:cNvPr>
          <p:cNvSpPr>
            <a:spLocks noGrp="1"/>
          </p:cNvSpPr>
          <p:nvPr/>
        </p:nvSpPr>
        <p:spPr>
          <a:xfrm>
            <a:off x="2781300" y="15049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用途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AE0C98-DA4B-466C-B31C-6A0887C7F6E2}"/>
              </a:ext>
            </a:extLst>
          </p:cNvPr>
          <p:cNvSpPr>
            <a:spLocks noGrp="1"/>
          </p:cNvSpPr>
          <p:nvPr/>
        </p:nvSpPr>
        <p:spPr>
          <a:xfrm>
            <a:off x="6115050" y="1428750"/>
            <a:ext cx="50482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BD0372-EF65-40AA-B1C5-F9257F85DAE8}"/>
              </a:ext>
            </a:extLst>
          </p:cNvPr>
          <p:cNvSpPr>
            <a:spLocks noGrp="1"/>
          </p:cNvSpPr>
          <p:nvPr/>
        </p:nvSpPr>
        <p:spPr>
          <a:xfrm>
            <a:off x="6210300" y="15049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現場判斷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0A5928-E995-4E37-9DEA-690904B49107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2000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A2D49D-EC1F-4518-BAC5-D7403FF53E9B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名稱 / 類型 / 協定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EFC24A-D2F4-497E-A0AE-F6FB9C03963F}"/>
              </a:ext>
            </a:extLst>
          </p:cNvPr>
          <p:cNvSpPr>
            <a:spLocks noGrp="1"/>
          </p:cNvSpPr>
          <p:nvPr/>
        </p:nvSpPr>
        <p:spPr>
          <a:xfrm>
            <a:off x="2686050" y="1828800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5C93E1-2017-4E0B-A832-726B22A8B778}"/>
              </a:ext>
            </a:extLst>
          </p:cNvPr>
          <p:cNvSpPr>
            <a:spLocks noGrp="1"/>
          </p:cNvSpPr>
          <p:nvPr/>
        </p:nvSpPr>
        <p:spPr>
          <a:xfrm>
            <a:off x="2781300" y="190500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辨識設備與通訊方式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359DC5-FB66-426A-850D-BD1C54478C06}"/>
              </a:ext>
            </a:extLst>
          </p:cNvPr>
          <p:cNvSpPr>
            <a:spLocks noGrp="1"/>
          </p:cNvSpPr>
          <p:nvPr/>
        </p:nvSpPr>
        <p:spPr>
          <a:xfrm>
            <a:off x="6115050" y="1828800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98E6B9-21CF-42BB-9415-5933CD1FC581}"/>
              </a:ext>
            </a:extLst>
          </p:cNvPr>
          <p:cNvSpPr>
            <a:spLocks noGrp="1"/>
          </p:cNvSpPr>
          <p:nvPr/>
        </p:nvSpPr>
        <p:spPr>
          <a:xfrm>
            <a:off x="6210300" y="190500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名稱建議包含位置與用途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147849-F42A-41EB-B6F3-BC8E80B40E74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000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95FB4F-E6E6-48AF-8BA4-49ACB1B5E812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目標 / 暫存器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92B9BA-4B3D-4BD6-8A4B-ECAF12D77FFB}"/>
              </a:ext>
            </a:extLst>
          </p:cNvPr>
          <p:cNvSpPr>
            <a:spLocks noGrp="1"/>
          </p:cNvSpPr>
          <p:nvPr/>
        </p:nvSpPr>
        <p:spPr>
          <a:xfrm>
            <a:off x="2686050" y="2419350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B838E6-8957-45AF-8049-7186AA0ACDAE}"/>
              </a:ext>
            </a:extLst>
          </p:cNvPr>
          <p:cNvSpPr>
            <a:spLocks noGrp="1"/>
          </p:cNvSpPr>
          <p:nvPr/>
        </p:nvSpPr>
        <p:spPr>
          <a:xfrm>
            <a:off x="2781300" y="249555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顯示 IP、Port、Serial Port、Register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BEAB20-DD27-4666-86AF-FD450882A1EC}"/>
              </a:ext>
            </a:extLst>
          </p:cNvPr>
          <p:cNvSpPr>
            <a:spLocks noGrp="1"/>
          </p:cNvSpPr>
          <p:nvPr/>
        </p:nvSpPr>
        <p:spPr>
          <a:xfrm>
            <a:off x="6115050" y="2419350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EB8149-681F-4A31-ACEE-D1C4D148AB14}"/>
              </a:ext>
            </a:extLst>
          </p:cNvPr>
          <p:cNvSpPr>
            <a:spLocks noGrp="1"/>
          </p:cNvSpPr>
          <p:nvPr/>
        </p:nvSpPr>
        <p:spPr>
          <a:xfrm>
            <a:off x="6210300" y="249555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讀不到時先檢查這些設定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3B6765-5431-44A1-B61B-C5001881D889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2000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4F93AB-2D39-4239-9813-D537B196D232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指標 / 最後數值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4D99D3-510A-4C01-BAA7-CFB93C9A4A7C}"/>
              </a:ext>
            </a:extLst>
          </p:cNvPr>
          <p:cNvSpPr>
            <a:spLocks noGrp="1"/>
          </p:cNvSpPr>
          <p:nvPr/>
        </p:nvSpPr>
        <p:spPr>
          <a:xfrm>
            <a:off x="2686050" y="3009900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CE5A6F8-B28B-433C-BCE0-0DDB90A10D1E}"/>
              </a:ext>
            </a:extLst>
          </p:cNvPr>
          <p:cNvSpPr>
            <a:spLocks noGrp="1"/>
          </p:cNvSpPr>
          <p:nvPr/>
        </p:nvSpPr>
        <p:spPr>
          <a:xfrm>
            <a:off x="2781300" y="308610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顯示 metric 與解析後數值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0E1165E-CD9E-4C6A-B7CB-07B98E51D9D6}"/>
              </a:ext>
            </a:extLst>
          </p:cNvPr>
          <p:cNvSpPr>
            <a:spLocks noGrp="1"/>
          </p:cNvSpPr>
          <p:nvPr/>
        </p:nvSpPr>
        <p:spPr>
          <a:xfrm>
            <a:off x="6115050" y="3009900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3776869-06F3-4D3A-A522-7DB1C6A04C2E}"/>
              </a:ext>
            </a:extLst>
          </p:cNvPr>
          <p:cNvSpPr>
            <a:spLocks noGrp="1"/>
          </p:cNvSpPr>
          <p:nvPr/>
        </p:nvSpPr>
        <p:spPr>
          <a:xfrm>
            <a:off x="6210300" y="308610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數值不合理時調 Data type、Scale、Endian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2845FE3-C7A2-4AAC-97D4-E3BB56464589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2000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1E83CA-5A09-4467-8EEA-7D3BB9CA57A5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最後上線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A1B0563-D63C-430B-8AC5-0DC26F5A3FA9}"/>
              </a:ext>
            </a:extLst>
          </p:cNvPr>
          <p:cNvSpPr>
            <a:spLocks noGrp="1"/>
          </p:cNvSpPr>
          <p:nvPr/>
        </p:nvSpPr>
        <p:spPr>
          <a:xfrm>
            <a:off x="2686050" y="3600450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D19BC9-BCC2-4ECB-A596-44443D97740E}"/>
              </a:ext>
            </a:extLst>
          </p:cNvPr>
          <p:cNvSpPr>
            <a:spLocks noGrp="1"/>
          </p:cNvSpPr>
          <p:nvPr/>
        </p:nvSpPr>
        <p:spPr>
          <a:xfrm>
            <a:off x="2781300" y="367665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最近成功讀值時間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47E4532-F146-480A-BF49-C454AF4B5406}"/>
              </a:ext>
            </a:extLst>
          </p:cNvPr>
          <p:cNvSpPr>
            <a:spLocks noGrp="1"/>
          </p:cNvSpPr>
          <p:nvPr/>
        </p:nvSpPr>
        <p:spPr>
          <a:xfrm>
            <a:off x="6115050" y="3600450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6579933-B19B-4D60-9B85-3B8D07E5A251}"/>
              </a:ext>
            </a:extLst>
          </p:cNvPr>
          <p:cNvSpPr>
            <a:spLocks noGrp="1"/>
          </p:cNvSpPr>
          <p:nvPr/>
        </p:nvSpPr>
        <p:spPr>
          <a:xfrm>
            <a:off x="6210300" y="367665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長時間未更新代表輪詢失敗或設備離線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6017969-7100-407B-8743-675B8B77CC13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2000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51406E3-9E8F-4C16-B984-C5661EC8F7AD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操作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AAA3473-267E-42AF-BCDF-13A85756EA19}"/>
              </a:ext>
            </a:extLst>
          </p:cNvPr>
          <p:cNvSpPr>
            <a:spLocks noGrp="1"/>
          </p:cNvSpPr>
          <p:nvPr/>
        </p:nvSpPr>
        <p:spPr>
          <a:xfrm>
            <a:off x="2686050" y="4191000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34E4D93-ED08-4A6C-BF87-5842B57B6334}"/>
              </a:ext>
            </a:extLst>
          </p:cNvPr>
          <p:cNvSpPr>
            <a:spLocks noGrp="1"/>
          </p:cNvSpPr>
          <p:nvPr/>
        </p:nvSpPr>
        <p:spPr>
          <a:xfrm>
            <a:off x="2781300" y="426720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Poll、Edit、Delete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2372930-941A-4B5C-95D2-49E496052BA8}"/>
              </a:ext>
            </a:extLst>
          </p:cNvPr>
          <p:cNvSpPr>
            <a:spLocks noGrp="1"/>
          </p:cNvSpPr>
          <p:nvPr/>
        </p:nvSpPr>
        <p:spPr>
          <a:xfrm>
            <a:off x="6115050" y="4191000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4BBF823-D31D-49E9-817C-8A8DD26DBDF9}"/>
              </a:ext>
            </a:extLst>
          </p:cNvPr>
          <p:cNvSpPr>
            <a:spLocks noGrp="1"/>
          </p:cNvSpPr>
          <p:nvPr/>
        </p:nvSpPr>
        <p:spPr>
          <a:xfrm>
            <a:off x="6210300" y="426720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新增後先按 Poll 做現場驗證</a:t>
            </a:r>
          </a:p>
        </p:txBody>
      </p:sp>
    </p:spTree>
    <p:extLst>
      <p:ext uri="{BB962C8B-B14F-4D97-AF65-F5344CB8AC3E}">
        <p14:creationId xmlns:p14="http://schemas.microsoft.com/office/powerpoint/2010/main" val="22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5385C49-7AA6-4A3F-B7AE-C4DEF7CD15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C9CD8E-C8AE-4E69-9217-1FDC2158AE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972D0-6412-4EA0-8CBD-968E79FCFEC4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功能頁面：整合設定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2BB336-4FCB-46B2-A699-7048ED22FD8C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HTTP 轉發、iframe Token、iframe Allowlist 都在整合設定頁。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EA4FCA-DB68-4157-B36F-E39E6AD3C772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4D5107-BC8B-4073-9DB9-EE4194221138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08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9800" y="1257300"/>
            <a:ext cx="777240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2BEC435-1C8E-4C6C-882F-0E7D0A1EAF69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9C2D3"/>
                </a:solidFill>
              </a:defRPr>
            </a:pPr>
            <a:r>
              <a:rPr sz="1125" b="0">
                <a:solidFill>
                  <a:srgbClr val="B9C2D3"/>
                </a:solidFill>
              </a:rPr>
              <a:t>此頁主要給系統管理員設定資料輸出與外部入口嵌入。</a:t>
            </a:r>
          </a:p>
        </p:txBody>
      </p:sp>
    </p:spTree>
    <p:extLst>
      <p:ext uri="{BB962C8B-B14F-4D97-AF65-F5344CB8AC3E}">
        <p14:creationId xmlns:p14="http://schemas.microsoft.com/office/powerpoint/2010/main" val="89705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361BD25B-52DA-42E9-9095-A3C60A4C97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9A19BD-1AA6-41A5-BC35-FBF1C091EC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B377C4-CEF1-4923-BC92-2CE87AF5F77F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功能細項：整合設定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2A9FB8-F5EC-49FE-922E-99779A912906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這一頁負責把 IoT 資料送出去，或讓外部入口嵌入唯讀頁面。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1B164C-262A-4A99-8139-2881C1DB311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00985D-44F1-402E-B29A-A1E66453A6D7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09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BD8A0D5-E8F9-45B5-A2C6-D192053E595A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893F97-FD95-4B5F-ABE9-3779B4891FC8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57150" cy="2000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F9A885-BCA4-4AFC-A44D-14568DD55AF0}"/>
              </a:ext>
            </a:extLst>
          </p:cNvPr>
          <p:cNvSpPr>
            <a:spLocks noGrp="1"/>
          </p:cNvSpPr>
          <p:nvPr/>
        </p:nvSpPr>
        <p:spPr>
          <a:xfrm>
            <a:off x="933450" y="1581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HTTP 轉發佇列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285EF8-9A56-443C-A7E2-E2B86DB94320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28575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設定 Webhook URL、Bearer token、批次數量。按立即清空可手動 Flush pending 資料。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3831AD7-1B8D-4A36-9DBC-BB88E20E2E2F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3EA2C9-B335-451C-B8B2-E27CFAC59F3E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57150" cy="200025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80B769-C99B-439E-93FB-B5A6D36704CF}"/>
              </a:ext>
            </a:extLst>
          </p:cNvPr>
          <p:cNvSpPr>
            <a:spLocks noGrp="1"/>
          </p:cNvSpPr>
          <p:nvPr/>
        </p:nvSpPr>
        <p:spPr>
          <a:xfrm>
            <a:off x="4686300" y="1581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iframe 嵌入 Token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9E0DBA-4D35-4C8B-97D5-A3D82E5A29DF}"/>
              </a:ext>
            </a:extLst>
          </p:cNvPr>
          <p:cNvSpPr>
            <a:spLocks noGrp="1"/>
          </p:cNvSpPr>
          <p:nvPr/>
        </p:nvSpPr>
        <p:spPr>
          <a:xfrm>
            <a:off x="4686300" y="1943100"/>
            <a:ext cx="28575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產生只讀 iframe HTML，讓客戶入口可嵌入 dashboard、topology、devices 或 iot 頁面。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C9C1ABA-1EB1-4E3E-BF53-D3CAF735383A}"/>
              </a:ext>
            </a:extLst>
          </p:cNvPr>
          <p:cNvSpPr>
            <a:spLocks noGrp="1"/>
          </p:cNvSpPr>
          <p:nvPr/>
        </p:nvSpPr>
        <p:spPr>
          <a:xfrm>
            <a:off x="8229600" y="14287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0C1E32-BBDB-4651-98B6-584E88692E4A}"/>
              </a:ext>
            </a:extLst>
          </p:cNvPr>
          <p:cNvSpPr>
            <a:spLocks noGrp="1"/>
          </p:cNvSpPr>
          <p:nvPr/>
        </p:nvSpPr>
        <p:spPr>
          <a:xfrm>
            <a:off x="8229600" y="1428750"/>
            <a:ext cx="57150" cy="2000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7C24B2-785B-4B8A-86AF-7A912E170424}"/>
              </a:ext>
            </a:extLst>
          </p:cNvPr>
          <p:cNvSpPr>
            <a:spLocks noGrp="1"/>
          </p:cNvSpPr>
          <p:nvPr/>
        </p:nvSpPr>
        <p:spPr>
          <a:xfrm>
            <a:off x="8439150" y="1581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iframe 允許清單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90DB17-CBFD-4B67-A712-02903BD2B9FD}"/>
              </a:ext>
            </a:extLst>
          </p:cNvPr>
          <p:cNvSpPr>
            <a:spLocks noGrp="1"/>
          </p:cNvSpPr>
          <p:nvPr/>
        </p:nvSpPr>
        <p:spPr>
          <a:xfrm>
            <a:off x="8439150" y="1943100"/>
            <a:ext cx="28575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設定允許嵌入 NMS 的來源網站。建議只加入可信任 HTTPS origin。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98A42A-4FD2-4BB2-8AAE-E1EF207F7C03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24765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664769-723C-4B51-84EE-ADB9D44A7EC3}"/>
              </a:ext>
            </a:extLst>
          </p:cNvPr>
          <p:cNvSpPr>
            <a:spLocks noGrp="1"/>
          </p:cNvSpPr>
          <p:nvPr/>
        </p:nvSpPr>
        <p:spPr>
          <a:xfrm>
            <a:off x="1162050" y="40767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狀態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61A739-73DA-47F0-9AA2-BC95E3AFE459}"/>
              </a:ext>
            </a:extLst>
          </p:cNvPr>
          <p:cNvSpPr>
            <a:spLocks noGrp="1"/>
          </p:cNvSpPr>
          <p:nvPr/>
        </p:nvSpPr>
        <p:spPr>
          <a:xfrm>
            <a:off x="3543300" y="4000500"/>
            <a:ext cx="34290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9D5B78-7447-488B-A8EC-F8797BAE675D}"/>
              </a:ext>
            </a:extLst>
          </p:cNvPr>
          <p:cNvSpPr>
            <a:spLocks noGrp="1"/>
          </p:cNvSpPr>
          <p:nvPr/>
        </p:nvSpPr>
        <p:spPr>
          <a:xfrm>
            <a:off x="3638550" y="4076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意思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89ABF8-6AE3-4947-ADFF-6C157BE5039B}"/>
              </a:ext>
            </a:extLst>
          </p:cNvPr>
          <p:cNvSpPr>
            <a:spLocks noGrp="1"/>
          </p:cNvSpPr>
          <p:nvPr/>
        </p:nvSpPr>
        <p:spPr>
          <a:xfrm>
            <a:off x="6972300" y="4000500"/>
            <a:ext cx="44767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7F4AF3D-D4AD-4213-84B3-3FF10FFB181B}"/>
              </a:ext>
            </a:extLst>
          </p:cNvPr>
          <p:cNvSpPr>
            <a:spLocks noGrp="1"/>
          </p:cNvSpPr>
          <p:nvPr/>
        </p:nvSpPr>
        <p:spPr>
          <a:xfrm>
            <a:off x="7067550" y="40767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處理方式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4507D3-734F-41BE-B4E7-B933EF4A070D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476500" cy="53340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A298A3-3FC8-4AD1-853F-9A3271C0D4A9}"/>
              </a:ext>
            </a:extLst>
          </p:cNvPr>
          <p:cNvSpPr>
            <a:spLocks noGrp="1"/>
          </p:cNvSpPr>
          <p:nvPr/>
        </p:nvSpPr>
        <p:spPr>
          <a:xfrm>
            <a:off x="1162050" y="44767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pending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E74F07-A551-4942-AB59-AEAF4994AC94}"/>
              </a:ext>
            </a:extLst>
          </p:cNvPr>
          <p:cNvSpPr>
            <a:spLocks noGrp="1"/>
          </p:cNvSpPr>
          <p:nvPr/>
        </p:nvSpPr>
        <p:spPr>
          <a:xfrm>
            <a:off x="3543300" y="4400550"/>
            <a:ext cx="3429000" cy="53340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DA0B0A-7873-46E9-B93E-1F25702879EF}"/>
              </a:ext>
            </a:extLst>
          </p:cNvPr>
          <p:cNvSpPr>
            <a:spLocks noGrp="1"/>
          </p:cNvSpPr>
          <p:nvPr/>
        </p:nvSpPr>
        <p:spPr>
          <a:xfrm>
            <a:off x="3638550" y="44767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資料等待轉發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6DCB9B-F77E-43B5-BEC2-FD1D80A2571E}"/>
              </a:ext>
            </a:extLst>
          </p:cNvPr>
          <p:cNvSpPr>
            <a:spLocks noGrp="1"/>
          </p:cNvSpPr>
          <p:nvPr/>
        </p:nvSpPr>
        <p:spPr>
          <a:xfrm>
            <a:off x="6972300" y="4400550"/>
            <a:ext cx="4476750" cy="53340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DE72A8-DC6E-4CC0-BBA9-24E5F0576EFA}"/>
              </a:ext>
            </a:extLst>
          </p:cNvPr>
          <p:cNvSpPr>
            <a:spLocks noGrp="1"/>
          </p:cNvSpPr>
          <p:nvPr/>
        </p:nvSpPr>
        <p:spPr>
          <a:xfrm>
            <a:off x="7067550" y="44767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檢查 URL 後按立即清空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D2B1C80-BEC2-45CE-95D3-F2D57F2CE42C}"/>
              </a:ext>
            </a:extLst>
          </p:cNvPr>
          <p:cNvSpPr>
            <a:spLocks noGrp="1"/>
          </p:cNvSpPr>
          <p:nvPr/>
        </p:nvSpPr>
        <p:spPr>
          <a:xfrm>
            <a:off x="1066800" y="4933950"/>
            <a:ext cx="2476500" cy="53340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CA8C010-9C65-4869-9376-29420E4B7DAB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sent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69E558-0A04-48C9-8A3C-933779F126B5}"/>
              </a:ext>
            </a:extLst>
          </p:cNvPr>
          <p:cNvSpPr>
            <a:spLocks noGrp="1"/>
          </p:cNvSpPr>
          <p:nvPr/>
        </p:nvSpPr>
        <p:spPr>
          <a:xfrm>
            <a:off x="3543300" y="4933950"/>
            <a:ext cx="3429000" cy="53340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EA83FA-AE10-4758-B601-947CF24D1839}"/>
              </a:ext>
            </a:extLst>
          </p:cNvPr>
          <p:cNvSpPr>
            <a:spLocks noGrp="1"/>
          </p:cNvSpPr>
          <p:nvPr/>
        </p:nvSpPr>
        <p:spPr>
          <a:xfrm>
            <a:off x="3638550" y="50101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已收到對方 2xx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95FED1-F330-4D05-BADC-D23221382A7E}"/>
              </a:ext>
            </a:extLst>
          </p:cNvPr>
          <p:cNvSpPr>
            <a:spLocks noGrp="1"/>
          </p:cNvSpPr>
          <p:nvPr/>
        </p:nvSpPr>
        <p:spPr>
          <a:xfrm>
            <a:off x="6972300" y="4933950"/>
            <a:ext cx="4476750" cy="53340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5BE8382-6949-4E50-AC32-CA6CA39D4B4A}"/>
              </a:ext>
            </a:extLst>
          </p:cNvPr>
          <p:cNvSpPr>
            <a:spLocks noGrp="1"/>
          </p:cNvSpPr>
          <p:nvPr/>
        </p:nvSpPr>
        <p:spPr>
          <a:xfrm>
            <a:off x="7067550" y="50101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代表串接正常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4B36CC1-24F4-49E2-A011-A7E080824311}"/>
              </a:ext>
            </a:extLst>
          </p:cNvPr>
          <p:cNvSpPr>
            <a:spLocks noGrp="1"/>
          </p:cNvSpPr>
          <p:nvPr/>
        </p:nvSpPr>
        <p:spPr>
          <a:xfrm>
            <a:off x="1066800" y="5467350"/>
            <a:ext cx="2476500" cy="53340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260EF5-2E7D-42AB-A2C4-1E6095516398}"/>
              </a:ext>
            </a:extLst>
          </p:cNvPr>
          <p:cNvSpPr>
            <a:spLocks noGrp="1"/>
          </p:cNvSpPr>
          <p:nvPr/>
        </p:nvSpPr>
        <p:spPr>
          <a:xfrm>
            <a:off x="1162050" y="55435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failed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7093CDF-2D35-47DB-AA58-11569CC5CEB9}"/>
              </a:ext>
            </a:extLst>
          </p:cNvPr>
          <p:cNvSpPr>
            <a:spLocks noGrp="1"/>
          </p:cNvSpPr>
          <p:nvPr/>
        </p:nvSpPr>
        <p:spPr>
          <a:xfrm>
            <a:off x="3543300" y="5467350"/>
            <a:ext cx="3429000" cy="53340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3C9D365-7E31-48AD-B454-C054624C0DB8}"/>
              </a:ext>
            </a:extLst>
          </p:cNvPr>
          <p:cNvSpPr>
            <a:spLocks noGrp="1"/>
          </p:cNvSpPr>
          <p:nvPr/>
        </p:nvSpPr>
        <p:spPr>
          <a:xfrm>
            <a:off x="3638550" y="55435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轉發失敗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7779355-4529-4418-870E-E8EF08EA2DCC}"/>
              </a:ext>
            </a:extLst>
          </p:cNvPr>
          <p:cNvSpPr>
            <a:spLocks noGrp="1"/>
          </p:cNvSpPr>
          <p:nvPr/>
        </p:nvSpPr>
        <p:spPr>
          <a:xfrm>
            <a:off x="6972300" y="5467350"/>
            <a:ext cx="4476750" cy="53340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5CBFDE6-DD1F-42F7-B20B-D35418720973}"/>
              </a:ext>
            </a:extLst>
          </p:cNvPr>
          <p:cNvSpPr>
            <a:spLocks noGrp="1"/>
          </p:cNvSpPr>
          <p:nvPr/>
        </p:nvSpPr>
        <p:spPr>
          <a:xfrm>
            <a:off x="7067550" y="55435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檢查 Token、網路與對方 API</a:t>
            </a:r>
          </a:p>
        </p:txBody>
      </p:sp>
    </p:spTree>
    <p:extLst>
      <p:ext uri="{BB962C8B-B14F-4D97-AF65-F5344CB8AC3E}">
        <p14:creationId xmlns:p14="http://schemas.microsoft.com/office/powerpoint/2010/main" val="86117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BDC27F6-4D65-41EA-ABF8-83CA51CDE4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BB8043-0518-4915-8E45-E3C2B83BEE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2FDD94-DB78-43E4-B6E6-AA144F6D612E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功能頁面：新增設備 Modbus TCP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44557D-937B-4AD0-9EEF-D2370411E3E9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TCP 類設備以 Host / IP 與 Port 作為目標。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9F6BF6-2677-4A72-AAF2-D51BAA4CE7E7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59B71-D67C-4F27-8052-0C9B213DD4FF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10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9800" y="1257300"/>
            <a:ext cx="777240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ACE6B6C-C07E-4239-A481-C3B412B84AC7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9C2D3"/>
                </a:solidFill>
              </a:defRPr>
            </a:pPr>
            <a:r>
              <a:rPr sz="1125" b="0">
                <a:solidFill>
                  <a:srgbClr val="B9C2D3"/>
                </a:solidFill>
              </a:rPr>
              <a:t>新增設備視窗會依分頁切換不同通訊欄位。</a:t>
            </a:r>
          </a:p>
        </p:txBody>
      </p:sp>
    </p:spTree>
    <p:extLst>
      <p:ext uri="{BB962C8B-B14F-4D97-AF65-F5344CB8AC3E}">
        <p14:creationId xmlns:p14="http://schemas.microsoft.com/office/powerpoint/2010/main" val="1745889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C7098EC3-9F9C-42E7-A9C1-1DE953B97A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F7527D-AB4A-4E65-B6FF-6059042318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319708-AF75-400D-A95A-D0B999EA1365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功能細項：新增設備共用欄位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E87F26-E114-4E6C-80E3-4744E3BC3DE9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不論使用哪種協定，這些欄位都會影響讀值與顯示。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3B519B-C820-40E3-91D7-FCDA25F21FE4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4F51BA-2A57-4F8E-A9F0-0B61FB34EE41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2B5ED4-001B-4222-94BD-C6768CFC4D4A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21907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34204E-DF83-4AF7-8EC0-12F3F20EBD77}"/>
              </a:ext>
            </a:extLst>
          </p:cNvPr>
          <p:cNvSpPr>
            <a:spLocks noGrp="1"/>
          </p:cNvSpPr>
          <p:nvPr/>
        </p:nvSpPr>
        <p:spPr>
          <a:xfrm>
            <a:off x="762000" y="14573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欄位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45A9BE-A501-435D-BF6F-E901859733FC}"/>
              </a:ext>
            </a:extLst>
          </p:cNvPr>
          <p:cNvSpPr>
            <a:spLocks noGrp="1"/>
          </p:cNvSpPr>
          <p:nvPr/>
        </p:nvSpPr>
        <p:spPr>
          <a:xfrm>
            <a:off x="2857500" y="1381125"/>
            <a:ext cx="34290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41DE68-88DC-4639-97CE-DBD077C52F6C}"/>
              </a:ext>
            </a:extLst>
          </p:cNvPr>
          <p:cNvSpPr>
            <a:spLocks noGrp="1"/>
          </p:cNvSpPr>
          <p:nvPr/>
        </p:nvSpPr>
        <p:spPr>
          <a:xfrm>
            <a:off x="2952750" y="145732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D341FA-D267-4514-ABB3-2BA33C30C815}"/>
              </a:ext>
            </a:extLst>
          </p:cNvPr>
          <p:cNvSpPr>
            <a:spLocks noGrp="1"/>
          </p:cNvSpPr>
          <p:nvPr/>
        </p:nvSpPr>
        <p:spPr>
          <a:xfrm>
            <a:off x="6286500" y="1381125"/>
            <a:ext cx="50482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C31F94-8BCA-40E4-8FF6-811FFFE54CA7}"/>
              </a:ext>
            </a:extLst>
          </p:cNvPr>
          <p:cNvSpPr>
            <a:spLocks noGrp="1"/>
          </p:cNvSpPr>
          <p:nvPr/>
        </p:nvSpPr>
        <p:spPr>
          <a:xfrm>
            <a:off x="6381750" y="145732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建議填法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E902E6-426B-4FD0-B753-EF923202293E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B9D712-2E76-4AF4-97B3-35237139C94C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設備名稱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9C0395-4D09-402C-BE27-52DD66C86491}"/>
              </a:ext>
            </a:extLst>
          </p:cNvPr>
          <p:cNvSpPr>
            <a:spLocks noGrp="1"/>
          </p:cNvSpPr>
          <p:nvPr/>
        </p:nvSpPr>
        <p:spPr>
          <a:xfrm>
            <a:off x="2857500" y="1781175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0B2BA3-AC7B-4BE6-A940-A4BD412A04ED}"/>
              </a:ext>
            </a:extLst>
          </p:cNvPr>
          <p:cNvSpPr>
            <a:spLocks noGrp="1"/>
          </p:cNvSpPr>
          <p:nvPr/>
        </p:nvSpPr>
        <p:spPr>
          <a:xfrm>
            <a:off x="2952750" y="1857375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顯示在卡片與清單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457D9A-4C8F-4DC6-A755-327C956066F1}"/>
              </a:ext>
            </a:extLst>
          </p:cNvPr>
          <p:cNvSpPr>
            <a:spLocks noGrp="1"/>
          </p:cNvSpPr>
          <p:nvPr/>
        </p:nvSpPr>
        <p:spPr>
          <a:xfrm>
            <a:off x="6286500" y="1781175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96CA72-115A-4F65-AE35-578CFA8E7D6B}"/>
              </a:ext>
            </a:extLst>
          </p:cNvPr>
          <p:cNvSpPr>
            <a:spLocks noGrp="1"/>
          </p:cNvSpPr>
          <p:nvPr/>
        </p:nvSpPr>
        <p:spPr>
          <a:xfrm>
            <a:off x="6381750" y="1857375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位置 + 用途 + 編號，例如 1F-TempHumi-01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425A4A-651E-4896-9E85-A90C56E0E672}"/>
              </a:ext>
            </a:extLst>
          </p:cNvPr>
          <p:cNvSpPr>
            <a:spLocks noGrp="1"/>
          </p:cNvSpPr>
          <p:nvPr/>
        </p:nvSpPr>
        <p:spPr>
          <a:xfrm>
            <a:off x="666750" y="2371725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0D0E95-E3C7-40A9-96D7-C39B8A0CDBCD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感測器類型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8262CE-0F03-4F82-B467-64AA40C8B88A}"/>
              </a:ext>
            </a:extLst>
          </p:cNvPr>
          <p:cNvSpPr>
            <a:spLocks noGrp="1"/>
          </p:cNvSpPr>
          <p:nvPr/>
        </p:nvSpPr>
        <p:spPr>
          <a:xfrm>
            <a:off x="2857500" y="2371725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D5BB117-CC95-4FAE-BEAB-D53857CFFFFB}"/>
              </a:ext>
            </a:extLst>
          </p:cNvPr>
          <p:cNvSpPr>
            <a:spLocks noGrp="1"/>
          </p:cNvSpPr>
          <p:nvPr/>
        </p:nvSpPr>
        <p:spPr>
          <a:xfrm>
            <a:off x="2952750" y="2447925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決定顯示單位與部分預設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7973DF-4CC1-47E0-AE87-643D90E8EFF0}"/>
              </a:ext>
            </a:extLst>
          </p:cNvPr>
          <p:cNvSpPr>
            <a:spLocks noGrp="1"/>
          </p:cNvSpPr>
          <p:nvPr/>
        </p:nvSpPr>
        <p:spPr>
          <a:xfrm>
            <a:off x="6286500" y="2371725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7DD77C-9755-47D1-B223-787C450AA665}"/>
              </a:ext>
            </a:extLst>
          </p:cNvPr>
          <p:cNvSpPr>
            <a:spLocks noGrp="1"/>
          </p:cNvSpPr>
          <p:nvPr/>
        </p:nvSpPr>
        <p:spPr>
          <a:xfrm>
            <a:off x="6381750" y="2447925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溫度、濕度、溫濕度、電壓、電流、CO2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B71FD8E-4A50-45C4-B030-99107E609778}"/>
              </a:ext>
            </a:extLst>
          </p:cNvPr>
          <p:cNvSpPr>
            <a:spLocks noGrp="1"/>
          </p:cNvSpPr>
          <p:nvPr/>
        </p:nvSpPr>
        <p:spPr>
          <a:xfrm>
            <a:off x="666750" y="2962275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D5D113-1EA3-403D-8486-A0336063E9F8}"/>
              </a:ext>
            </a:extLst>
          </p:cNvPr>
          <p:cNvSpPr>
            <a:spLocks noGrp="1"/>
          </p:cNvSpPr>
          <p:nvPr/>
        </p:nvSpPr>
        <p:spPr>
          <a:xfrm>
            <a:off x="762000" y="303847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指標名稱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5AE665-7F23-4E27-AE98-B4B4A3E57CFF}"/>
              </a:ext>
            </a:extLst>
          </p:cNvPr>
          <p:cNvSpPr>
            <a:spLocks noGrp="1"/>
          </p:cNvSpPr>
          <p:nvPr/>
        </p:nvSpPr>
        <p:spPr>
          <a:xfrm>
            <a:off x="2857500" y="2962275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81D522-3ADF-4BB6-9EC5-983E12ADE31D}"/>
              </a:ext>
            </a:extLst>
          </p:cNvPr>
          <p:cNvSpPr>
            <a:spLocks noGrp="1"/>
          </p:cNvSpPr>
          <p:nvPr/>
        </p:nvSpPr>
        <p:spPr>
          <a:xfrm>
            <a:off x="2952750" y="3038475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寫入 measurement 與 forward payload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30F2E1-4E1F-4D17-AD82-6FDF5B9EB438}"/>
              </a:ext>
            </a:extLst>
          </p:cNvPr>
          <p:cNvSpPr>
            <a:spLocks noGrp="1"/>
          </p:cNvSpPr>
          <p:nvPr/>
        </p:nvSpPr>
        <p:spPr>
          <a:xfrm>
            <a:off x="6286500" y="2962275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5E8567-7AAA-4EAC-BA9E-B0983C9197B2}"/>
              </a:ext>
            </a:extLst>
          </p:cNvPr>
          <p:cNvSpPr>
            <a:spLocks noGrp="1"/>
          </p:cNvSpPr>
          <p:nvPr/>
        </p:nvSpPr>
        <p:spPr>
          <a:xfrm>
            <a:off x="6381750" y="3038475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temperature、humidity、voltage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9C16BD-7B80-4712-BB9A-DAA829DE68E9}"/>
              </a:ext>
            </a:extLst>
          </p:cNvPr>
          <p:cNvSpPr>
            <a:spLocks noGrp="1"/>
          </p:cNvSpPr>
          <p:nvPr/>
        </p:nvSpPr>
        <p:spPr>
          <a:xfrm>
            <a:off x="666750" y="3552825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D020AA5-F428-48AF-96B1-0823661DB9C5}"/>
              </a:ext>
            </a:extLst>
          </p:cNvPr>
          <p:cNvSpPr>
            <a:spLocks noGrp="1"/>
          </p:cNvSpPr>
          <p:nvPr/>
        </p:nvSpPr>
        <p:spPr>
          <a:xfrm>
            <a:off x="762000" y="362902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Unit ID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05E1557-660C-4DE3-9498-55340C04BD90}"/>
              </a:ext>
            </a:extLst>
          </p:cNvPr>
          <p:cNvSpPr>
            <a:spLocks noGrp="1"/>
          </p:cNvSpPr>
          <p:nvPr/>
        </p:nvSpPr>
        <p:spPr>
          <a:xfrm>
            <a:off x="2857500" y="3552825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4BF49FD-8BE4-4493-935F-8D0AFEBA4E9F}"/>
              </a:ext>
            </a:extLst>
          </p:cNvPr>
          <p:cNvSpPr>
            <a:spLocks noGrp="1"/>
          </p:cNvSpPr>
          <p:nvPr/>
        </p:nvSpPr>
        <p:spPr>
          <a:xfrm>
            <a:off x="2952750" y="3629025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Modbus Slave ID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FA03F4-D2A8-48D9-82BC-A819252E9BD0}"/>
              </a:ext>
            </a:extLst>
          </p:cNvPr>
          <p:cNvSpPr>
            <a:spLocks noGrp="1"/>
          </p:cNvSpPr>
          <p:nvPr/>
        </p:nvSpPr>
        <p:spPr>
          <a:xfrm>
            <a:off x="6286500" y="3552825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86FCBBF-7676-4406-AFFF-A2A7C1301A7D}"/>
              </a:ext>
            </a:extLst>
          </p:cNvPr>
          <p:cNvSpPr>
            <a:spLocks noGrp="1"/>
          </p:cNvSpPr>
          <p:nvPr/>
        </p:nvSpPr>
        <p:spPr>
          <a:xfrm>
            <a:off x="6381750" y="3629025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1 至 247，RS485 上不可重複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8AC081C-EC0F-4F78-B53A-AA7259512CBC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2ED9112-559F-4029-AA81-70E3F104655C}"/>
              </a:ext>
            </a:extLst>
          </p:cNvPr>
          <p:cNvSpPr>
            <a:spLocks noGrp="1"/>
          </p:cNvSpPr>
          <p:nvPr/>
        </p:nvSpPr>
        <p:spPr>
          <a:xfrm>
            <a:off x="762000" y="421957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輪詢間隔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7BA34EE-21FE-4B28-83E8-AA6A592F6CD6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34290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4D216AC-D9F3-4C04-97C9-996599EF6179}"/>
              </a:ext>
            </a:extLst>
          </p:cNvPr>
          <p:cNvSpPr>
            <a:spLocks noGrp="1"/>
          </p:cNvSpPr>
          <p:nvPr/>
        </p:nvSpPr>
        <p:spPr>
          <a:xfrm>
            <a:off x="2952750" y="4219575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背景 Poll 間隔秒數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971555C-AB55-4678-A572-81FF4DD7B072}"/>
              </a:ext>
            </a:extLst>
          </p:cNvPr>
          <p:cNvSpPr>
            <a:spLocks noGrp="1"/>
          </p:cNvSpPr>
          <p:nvPr/>
        </p:nvSpPr>
        <p:spPr>
          <a:xfrm>
            <a:off x="6286500" y="4143375"/>
            <a:ext cx="50482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3E70878-CE0D-4137-9E4B-CCFDC454BF88}"/>
              </a:ext>
            </a:extLst>
          </p:cNvPr>
          <p:cNvSpPr>
            <a:spLocks noGrp="1"/>
          </p:cNvSpPr>
          <p:nvPr/>
        </p:nvSpPr>
        <p:spPr>
          <a:xfrm>
            <a:off x="6381750" y="4219575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設備多時建議 60 秒以上</a:t>
            </a:r>
          </a:p>
        </p:txBody>
      </p:sp>
    </p:spTree>
    <p:extLst>
      <p:ext uri="{BB962C8B-B14F-4D97-AF65-F5344CB8AC3E}">
        <p14:creationId xmlns:p14="http://schemas.microsoft.com/office/powerpoint/2010/main" val="652854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500180B-B228-4452-8D91-843719298C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E97FAB-034B-4881-A940-0E2761C8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FCF9D-C7F8-4EC3-8B96-9A75736F5587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功能頁面：新增設備 Modbus RTU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BE40C9-1D94-4184-AF9C-90696C014B46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RTU 使用本機序列埠，重點是 baud、parity、stop bits 必須一致。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2E902E-F4B8-4913-A5B9-D7196075BDE8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425F96-0BDC-4DBD-BCA7-F0C28E224543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12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9800" y="1257300"/>
            <a:ext cx="777240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5A6E457-4985-4BA7-902A-ABD6F02B800D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9C2D3"/>
                </a:solidFill>
              </a:defRPr>
            </a:pPr>
            <a:r>
              <a:rPr sz="1125" b="0">
                <a:solidFill>
                  <a:srgbClr val="B9C2D3"/>
                </a:solidFill>
              </a:rPr>
              <a:t>Windows 常見 COM3；Linux 常見 /dev/ttyUSB0。</a:t>
            </a:r>
          </a:p>
        </p:txBody>
      </p:sp>
    </p:spTree>
    <p:extLst>
      <p:ext uri="{BB962C8B-B14F-4D97-AF65-F5344CB8AC3E}">
        <p14:creationId xmlns:p14="http://schemas.microsoft.com/office/powerpoint/2010/main" val="405872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D3702B8C-AEBD-42CC-A33A-9577E02931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6D3732-E444-4149-95F0-154920480B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597974-D474-4949-B595-5BDFA82E6452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功能細項：RTU / RS485 序列設定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7F2252-77B5-4848-B815-0A3CD3757068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序列參數錯誤時，最常見現象是 timeout 或 CRC mismatch。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87EEC6-D1FD-42D3-B134-08031580749B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FE9806-B620-475A-BA4B-EFB4CC785071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918343-E4FB-481F-BF04-8B3EE3D49F09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1907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076348-85E2-466B-A5FE-8EADAE48E56C}"/>
              </a:ext>
            </a:extLst>
          </p:cNvPr>
          <p:cNvSpPr>
            <a:spLocks noGrp="1"/>
          </p:cNvSpPr>
          <p:nvPr/>
        </p:nvSpPr>
        <p:spPr>
          <a:xfrm>
            <a:off x="857250" y="15049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欄位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E532C6-D787-48CE-8D6C-FCBE17FD36D4}"/>
              </a:ext>
            </a:extLst>
          </p:cNvPr>
          <p:cNvSpPr>
            <a:spLocks noGrp="1"/>
          </p:cNvSpPr>
          <p:nvPr/>
        </p:nvSpPr>
        <p:spPr>
          <a:xfrm>
            <a:off x="2952750" y="1428750"/>
            <a:ext cx="28575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D87EDB-662D-43C9-8394-0A8861F8EE18}"/>
              </a:ext>
            </a:extLst>
          </p:cNvPr>
          <p:cNvSpPr>
            <a:spLocks noGrp="1"/>
          </p:cNvSpPr>
          <p:nvPr/>
        </p:nvSpPr>
        <p:spPr>
          <a:xfrm>
            <a:off x="3048000" y="15049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常見值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F8EB81-882F-47F8-8E38-302490D427F8}"/>
              </a:ext>
            </a:extLst>
          </p:cNvPr>
          <p:cNvSpPr>
            <a:spLocks noGrp="1"/>
          </p:cNvSpPr>
          <p:nvPr/>
        </p:nvSpPr>
        <p:spPr>
          <a:xfrm>
            <a:off x="5810250" y="1428750"/>
            <a:ext cx="53340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0A3222-6111-4848-91B4-F1D265C0F3E3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注意事項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434835-E294-4CFD-A1A9-D820A33C8B92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E62F5D-AE48-402B-A1BC-89DBAD893B66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序列埠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CB25E5-D694-440B-B78E-59142EBB079D}"/>
              </a:ext>
            </a:extLst>
          </p:cNvPr>
          <p:cNvSpPr>
            <a:spLocks noGrp="1"/>
          </p:cNvSpPr>
          <p:nvPr/>
        </p:nvSpPr>
        <p:spPr>
          <a:xfrm>
            <a:off x="2952750" y="1828800"/>
            <a:ext cx="28575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4E135A-17FD-4B05-B2AB-09FA6647ABA5}"/>
              </a:ext>
            </a:extLst>
          </p:cNvPr>
          <p:cNvSpPr>
            <a:spLocks noGrp="1"/>
          </p:cNvSpPr>
          <p:nvPr/>
        </p:nvSpPr>
        <p:spPr>
          <a:xfrm>
            <a:off x="3048000" y="190500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COM3、/dev/ttyUSB0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4C72A6-D073-44B4-89C3-6CA614202709}"/>
              </a:ext>
            </a:extLst>
          </p:cNvPr>
          <p:cNvSpPr>
            <a:spLocks noGrp="1"/>
          </p:cNvSpPr>
          <p:nvPr/>
        </p:nvSpPr>
        <p:spPr>
          <a:xfrm>
            <a:off x="5810250" y="1828800"/>
            <a:ext cx="533400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BD5A4E-8781-43FB-9F03-C5B582D6E540}"/>
              </a:ext>
            </a:extLst>
          </p:cNvPr>
          <p:cNvSpPr>
            <a:spLocks noGrp="1"/>
          </p:cNvSpPr>
          <p:nvPr/>
        </p:nvSpPr>
        <p:spPr>
          <a:xfrm>
            <a:off x="5905500" y="1905000"/>
            <a:ext cx="514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同一個 Port 不要被其他程式占用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2FC470-AAC0-4E8A-9A3D-8AADF7C7E090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4602C5-BA4D-4923-A09A-F9CB1E190C2F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鮑率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A0FD96-D4DC-419E-B427-548D7DE050E2}"/>
              </a:ext>
            </a:extLst>
          </p:cNvPr>
          <p:cNvSpPr>
            <a:spLocks noGrp="1"/>
          </p:cNvSpPr>
          <p:nvPr/>
        </p:nvSpPr>
        <p:spPr>
          <a:xfrm>
            <a:off x="2952750" y="2419350"/>
            <a:ext cx="28575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AAD113-C854-4B84-8ACB-29EC432A7DFE}"/>
              </a:ext>
            </a:extLst>
          </p:cNvPr>
          <p:cNvSpPr>
            <a:spLocks noGrp="1"/>
          </p:cNvSpPr>
          <p:nvPr/>
        </p:nvSpPr>
        <p:spPr>
          <a:xfrm>
            <a:off x="3048000" y="24955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9600、19200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246F310-BC4D-473B-9626-BD7912690CE1}"/>
              </a:ext>
            </a:extLst>
          </p:cNvPr>
          <p:cNvSpPr>
            <a:spLocks noGrp="1"/>
          </p:cNvSpPr>
          <p:nvPr/>
        </p:nvSpPr>
        <p:spPr>
          <a:xfrm>
            <a:off x="5810250" y="2419350"/>
            <a:ext cx="533400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42053C-A102-4F11-8F00-74EA3FB27E21}"/>
              </a:ext>
            </a:extLst>
          </p:cNvPr>
          <p:cNvSpPr>
            <a:spLocks noGrp="1"/>
          </p:cNvSpPr>
          <p:nvPr/>
        </p:nvSpPr>
        <p:spPr>
          <a:xfrm>
            <a:off x="5905500" y="2495550"/>
            <a:ext cx="514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必須與設備 DIP switch 或手冊一致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40480D9-57E2-4AC7-B3CD-F14A3762DBEE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F87A5B-1D80-4B8C-B419-78B2C589DB36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資料位元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DB73CF9-BB81-4C5F-BB64-41FCF5E2D073}"/>
              </a:ext>
            </a:extLst>
          </p:cNvPr>
          <p:cNvSpPr>
            <a:spLocks noGrp="1"/>
          </p:cNvSpPr>
          <p:nvPr/>
        </p:nvSpPr>
        <p:spPr>
          <a:xfrm>
            <a:off x="2952750" y="3009900"/>
            <a:ext cx="28575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872D50-4BD5-4ACF-9E40-98E858548B7C}"/>
              </a:ext>
            </a:extLst>
          </p:cNvPr>
          <p:cNvSpPr>
            <a:spLocks noGrp="1"/>
          </p:cNvSpPr>
          <p:nvPr/>
        </p:nvSpPr>
        <p:spPr>
          <a:xfrm>
            <a:off x="3048000" y="308610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F87179D-CE02-4732-AD4E-50B9DC3EF020}"/>
              </a:ext>
            </a:extLst>
          </p:cNvPr>
          <p:cNvSpPr>
            <a:spLocks noGrp="1"/>
          </p:cNvSpPr>
          <p:nvPr/>
        </p:nvSpPr>
        <p:spPr>
          <a:xfrm>
            <a:off x="5810250" y="3009900"/>
            <a:ext cx="533400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CC8667-2CF8-4755-995C-65EF2AC3C626}"/>
              </a:ext>
            </a:extLst>
          </p:cNvPr>
          <p:cNvSpPr>
            <a:spLocks noGrp="1"/>
          </p:cNvSpPr>
          <p:nvPr/>
        </p:nvSpPr>
        <p:spPr>
          <a:xfrm>
            <a:off x="5905500" y="3086100"/>
            <a:ext cx="514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大多數 Modbus RTU 使用 8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6775B54-E9DE-43F4-AFA6-24D3528565E3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AD0D5E6-E4FC-45F0-9080-42EF45A7AAAD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同位檢查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5D22429-9C27-43FC-B59A-578C0FDDC951}"/>
              </a:ext>
            </a:extLst>
          </p:cNvPr>
          <p:cNvSpPr>
            <a:spLocks noGrp="1"/>
          </p:cNvSpPr>
          <p:nvPr/>
        </p:nvSpPr>
        <p:spPr>
          <a:xfrm>
            <a:off x="2952750" y="3600450"/>
            <a:ext cx="28575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D3F6A85-22A7-415A-A70F-3936B44B20AA}"/>
              </a:ext>
            </a:extLst>
          </p:cNvPr>
          <p:cNvSpPr>
            <a:spLocks noGrp="1"/>
          </p:cNvSpPr>
          <p:nvPr/>
        </p:nvSpPr>
        <p:spPr>
          <a:xfrm>
            <a:off x="3048000" y="36766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無、Even、Odd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FF43E57-C03E-4045-B1D8-EFCBA93521A6}"/>
              </a:ext>
            </a:extLst>
          </p:cNvPr>
          <p:cNvSpPr>
            <a:spLocks noGrp="1"/>
          </p:cNvSpPr>
          <p:nvPr/>
        </p:nvSpPr>
        <p:spPr>
          <a:xfrm>
            <a:off x="5810250" y="3600450"/>
            <a:ext cx="533400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0D1950B-E251-4ED9-BC3D-A1DA89BB2D2F}"/>
              </a:ext>
            </a:extLst>
          </p:cNvPr>
          <p:cNvSpPr>
            <a:spLocks noGrp="1"/>
          </p:cNvSpPr>
          <p:nvPr/>
        </p:nvSpPr>
        <p:spPr>
          <a:xfrm>
            <a:off x="5905500" y="3676650"/>
            <a:ext cx="514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設定錯會造成讀不到或 CRC 錯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676FC2E-31AB-4E30-8C7A-EF034974BB79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219075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B839C2-DF77-42A5-A178-A10BF1C82EE4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停止位元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0C55D44-F187-47A2-8FDE-ACE86C5EC26A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2857500" cy="5905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9EB4F8-D52E-4380-A071-4440A3C02FBD}"/>
              </a:ext>
            </a:extLst>
          </p:cNvPr>
          <p:cNvSpPr>
            <a:spLocks noGrp="1"/>
          </p:cNvSpPr>
          <p:nvPr/>
        </p:nvSpPr>
        <p:spPr>
          <a:xfrm>
            <a:off x="3048000" y="426720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1、2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4D6AE5A-7C79-4AB7-A1E0-787AD98D94BB}"/>
              </a:ext>
            </a:extLst>
          </p:cNvPr>
          <p:cNvSpPr>
            <a:spLocks noGrp="1"/>
          </p:cNvSpPr>
          <p:nvPr/>
        </p:nvSpPr>
        <p:spPr>
          <a:xfrm>
            <a:off x="5810250" y="4191000"/>
            <a:ext cx="5334000" cy="5905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A2C118-94FB-4BBE-95AB-121A1DB3107C}"/>
              </a:ext>
            </a:extLst>
          </p:cNvPr>
          <p:cNvSpPr>
            <a:spLocks noGrp="1"/>
          </p:cNvSpPr>
          <p:nvPr/>
        </p:nvSpPr>
        <p:spPr>
          <a:xfrm>
            <a:off x="5905500" y="4267200"/>
            <a:ext cx="514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多數設備使用 1</a:t>
            </a:r>
          </a:p>
        </p:txBody>
      </p:sp>
    </p:spTree>
    <p:extLst>
      <p:ext uri="{BB962C8B-B14F-4D97-AF65-F5344CB8AC3E}">
        <p14:creationId xmlns:p14="http://schemas.microsoft.com/office/powerpoint/2010/main" val="148855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0C87BD7-1F26-4B50-9A90-BD102AEE43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C5CA0C-2FD1-4F54-9805-977AE0C91A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FFFD1D-D460-4A10-90EA-E4A67D4340EF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功能頁面：新增設備 Modbus RS485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84F27-9DE3-4CF7-9892-355857458428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RS485 是現場多點匯流排，設定方式與 RTU 類似。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B7DB90-523D-44B7-BF50-6BD6EFF7B5A0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A3D7A7-EFB6-46D7-827E-C62B052F30B2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14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9800" y="1257300"/>
            <a:ext cx="777240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283247A-8AAE-46A8-A3B9-35A3648F6AB3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9C2D3"/>
                </a:solidFill>
              </a:defRPr>
            </a:pPr>
            <a:r>
              <a:rPr sz="1125" b="0">
                <a:solidFill>
                  <a:srgbClr val="B9C2D3"/>
                </a:solidFill>
              </a:rPr>
              <a:t>同一條 RS485 線上，每台設備的 Unit ID 必須不同。</a:t>
            </a:r>
          </a:p>
        </p:txBody>
      </p:sp>
    </p:spTree>
    <p:extLst>
      <p:ext uri="{BB962C8B-B14F-4D97-AF65-F5344CB8AC3E}">
        <p14:creationId xmlns:p14="http://schemas.microsoft.com/office/powerpoint/2010/main" val="390364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486FA75-139C-4C31-8572-3199717871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F83B01-9A73-4513-82B3-5606371488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BAB03F-9C55-4180-94AB-E413C38CB9FF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功能頁面：新增設備 RTU over TCP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EAC9AD-DC5E-427E-BFFC-1B07655DAFC0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透明串口伺服器走 TCP，但封包仍使用 RTU frame。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A98740-20E0-48CF-98A5-98AABA747670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4AFDD7-1FC9-440E-9731-491272F66E9D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15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9800" y="1257300"/>
            <a:ext cx="777240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F883B0C-3C1F-4700-9870-B1D0E48A2FB7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9C2D3"/>
                </a:solidFill>
              </a:defRPr>
            </a:pPr>
            <a:r>
              <a:rPr sz="1125" b="0">
                <a:solidFill>
                  <a:srgbClr val="B9C2D3"/>
                </a:solidFill>
              </a:rPr>
              <a:t>若 RS485-to-Ethernet 轉換器不是 Modbus TCP Gateway，通常使用此模式。</a:t>
            </a:r>
          </a:p>
        </p:txBody>
      </p:sp>
    </p:spTree>
    <p:extLst>
      <p:ext uri="{BB962C8B-B14F-4D97-AF65-F5344CB8AC3E}">
        <p14:creationId xmlns:p14="http://schemas.microsoft.com/office/powerpoint/2010/main" val="1921165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8D9C3818-5F65-486D-8B6D-80A4B472CE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E39DC3-D5D8-43D8-B425-74A8BD354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135AF6-1084-4114-AEA9-924331AA9096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功能細項：暫存器與資料解析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7355FF-056C-43BA-9D48-DE8B1BDD9017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這些欄位決定 NMS 讀哪個位址，以及如何把 raw data 轉成工程值。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F51800-C655-4DA6-A8D7-56EC39F20F07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54D4FD-893D-4E0A-8F21-33B17A26AE74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33C339-0517-423F-83A0-98594C0FD6C7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20955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6177B0-8E12-4331-8E24-5C48C6C783B7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欄位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4FD660-2FCE-427A-9438-9F74846E5964}"/>
              </a:ext>
            </a:extLst>
          </p:cNvPr>
          <p:cNvSpPr>
            <a:spLocks noGrp="1"/>
          </p:cNvSpPr>
          <p:nvPr/>
        </p:nvSpPr>
        <p:spPr>
          <a:xfrm>
            <a:off x="2762250" y="1352550"/>
            <a:ext cx="33337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B8B340-E64F-452D-BC55-052491CBE4F0}"/>
              </a:ext>
            </a:extLst>
          </p:cNvPr>
          <p:cNvSpPr>
            <a:spLocks noGrp="1"/>
          </p:cNvSpPr>
          <p:nvPr/>
        </p:nvSpPr>
        <p:spPr>
          <a:xfrm>
            <a:off x="2857500" y="14287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58648F-55CB-4EA7-A1F6-0E1CE9611B38}"/>
              </a:ext>
            </a:extLst>
          </p:cNvPr>
          <p:cNvSpPr>
            <a:spLocks noGrp="1"/>
          </p:cNvSpPr>
          <p:nvPr/>
        </p:nvSpPr>
        <p:spPr>
          <a:xfrm>
            <a:off x="6096000" y="1352550"/>
            <a:ext cx="51435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6222A5-3CB1-4C6A-8BEA-F50FB04D00E6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常見判斷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A5C5F8-3B54-4A36-848A-FAD68950B6C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2095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840ED5-E94B-4990-B717-DCB8D28897F2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暫存器位址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D985DB-3FB9-4A1B-9230-26732D94991D}"/>
              </a:ext>
            </a:extLst>
          </p:cNvPr>
          <p:cNvSpPr>
            <a:spLocks noGrp="1"/>
          </p:cNvSpPr>
          <p:nvPr/>
        </p:nvSpPr>
        <p:spPr>
          <a:xfrm>
            <a:off x="2762250" y="1752600"/>
            <a:ext cx="333375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A73F8F-4455-42E4-A6C5-2A7352D657EF}"/>
              </a:ext>
            </a:extLst>
          </p:cNvPr>
          <p:cNvSpPr>
            <a:spLocks noGrp="1"/>
          </p:cNvSpPr>
          <p:nvPr/>
        </p:nvSpPr>
        <p:spPr>
          <a:xfrm>
            <a:off x="2857500" y="18288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起始 address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266C89-DA4F-4B9E-900D-C5259654C337}"/>
              </a:ext>
            </a:extLst>
          </p:cNvPr>
          <p:cNvSpPr>
            <a:spLocks noGrp="1"/>
          </p:cNvSpPr>
          <p:nvPr/>
        </p:nvSpPr>
        <p:spPr>
          <a:xfrm>
            <a:off x="6096000" y="1752600"/>
            <a:ext cx="5143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427F0D-7B68-46E4-8ABD-9E89FFB5C7E3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495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手冊寫 40001 通常填 0；寫 30002 通常填 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A741F8-67DA-4967-A407-1EF1B1248459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2095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521915-3A68-4C3A-89DA-B7F343176D5B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功能碼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E7DA00-785D-4137-9A55-6A8EF4F50831}"/>
              </a:ext>
            </a:extLst>
          </p:cNvPr>
          <p:cNvSpPr>
            <a:spLocks noGrp="1"/>
          </p:cNvSpPr>
          <p:nvPr/>
        </p:nvSpPr>
        <p:spPr>
          <a:xfrm>
            <a:off x="2762250" y="2266950"/>
            <a:ext cx="333375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EFBDDF-F47F-4F36-8B17-BCE9E8BCCFDC}"/>
              </a:ext>
            </a:extLst>
          </p:cNvPr>
          <p:cNvSpPr>
            <a:spLocks noGrp="1"/>
          </p:cNvSpPr>
          <p:nvPr/>
        </p:nvSpPr>
        <p:spPr>
          <a:xfrm>
            <a:off x="2857500" y="234315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讀取區域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12D464-8CDD-434F-AC6C-B7A53D891969}"/>
              </a:ext>
            </a:extLst>
          </p:cNvPr>
          <p:cNvSpPr>
            <a:spLocks noGrp="1"/>
          </p:cNvSpPr>
          <p:nvPr/>
        </p:nvSpPr>
        <p:spPr>
          <a:xfrm>
            <a:off x="6096000" y="2266950"/>
            <a:ext cx="5143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701570-10ED-42A7-B9BD-3390576EC901}"/>
              </a:ext>
            </a:extLst>
          </p:cNvPr>
          <p:cNvSpPr>
            <a:spLocks noGrp="1"/>
          </p:cNvSpPr>
          <p:nvPr/>
        </p:nvSpPr>
        <p:spPr>
          <a:xfrm>
            <a:off x="6191250" y="2343150"/>
            <a:ext cx="495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FC03 讀 Holding Register；FC04 讀 Input Register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46EDF9-7AB3-4F95-B324-7BCA47CC0E74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2095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03B7AE-2CEE-4FF2-9B88-15AB7EEC7FFC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資料型別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6A62935-4A4C-4F88-AC01-95768B4FAE5E}"/>
              </a:ext>
            </a:extLst>
          </p:cNvPr>
          <p:cNvSpPr>
            <a:spLocks noGrp="1"/>
          </p:cNvSpPr>
          <p:nvPr/>
        </p:nvSpPr>
        <p:spPr>
          <a:xfrm>
            <a:off x="2762250" y="2781300"/>
            <a:ext cx="333375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22DC30-8732-4038-A413-81F666BE28CF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解析 raw bytes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985063-2CAE-4571-8A48-4D892185D17A}"/>
              </a:ext>
            </a:extLst>
          </p:cNvPr>
          <p:cNvSpPr>
            <a:spLocks noGrp="1"/>
          </p:cNvSpPr>
          <p:nvPr/>
        </p:nvSpPr>
        <p:spPr>
          <a:xfrm>
            <a:off x="6096000" y="2781300"/>
            <a:ext cx="5143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AA46B55-C5F7-4558-88DC-328A370E0CD9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495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uint16、int16、uint32、int32、float32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C88ED10-9934-43A4-A5C3-0A1AC4573F6D}"/>
              </a:ext>
            </a:extLst>
          </p:cNvPr>
          <p:cNvSpPr>
            <a:spLocks noGrp="1"/>
          </p:cNvSpPr>
          <p:nvPr/>
        </p:nvSpPr>
        <p:spPr>
          <a:xfrm>
            <a:off x="666750" y="3295650"/>
            <a:ext cx="2095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C9F5ABB-62D3-493D-A2EB-F685CEE7B453}"/>
              </a:ext>
            </a:extLst>
          </p:cNvPr>
          <p:cNvSpPr>
            <a:spLocks noGrp="1"/>
          </p:cNvSpPr>
          <p:nvPr/>
        </p:nvSpPr>
        <p:spPr>
          <a:xfrm>
            <a:off x="762000" y="33718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倍率 Scale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FE6B1F3-147F-4F2F-8EA8-40E6919AE028}"/>
              </a:ext>
            </a:extLst>
          </p:cNvPr>
          <p:cNvSpPr>
            <a:spLocks noGrp="1"/>
          </p:cNvSpPr>
          <p:nvPr/>
        </p:nvSpPr>
        <p:spPr>
          <a:xfrm>
            <a:off x="2762250" y="3295650"/>
            <a:ext cx="333375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C1100B0-28C9-4174-9B55-9B6CEE540518}"/>
              </a:ext>
            </a:extLst>
          </p:cNvPr>
          <p:cNvSpPr>
            <a:spLocks noGrp="1"/>
          </p:cNvSpPr>
          <p:nvPr/>
        </p:nvSpPr>
        <p:spPr>
          <a:xfrm>
            <a:off x="2857500" y="337185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原始值乘數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B53DC0B-DA0C-41E2-9875-12C76A17A222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5143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564C01-FF3E-4EE7-AF50-39988A22E08D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495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值差 10 倍時改 0.1；差 100 倍時改 0.01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1A8C20-2483-4C9D-A60A-BEC7E48D239B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2095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990088A-A1D7-44C7-85A6-C2B3216363E5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偏移 Offset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2534D9-DDBD-4414-A681-FC086719638F}"/>
              </a:ext>
            </a:extLst>
          </p:cNvPr>
          <p:cNvSpPr>
            <a:spLocks noGrp="1"/>
          </p:cNvSpPr>
          <p:nvPr/>
        </p:nvSpPr>
        <p:spPr>
          <a:xfrm>
            <a:off x="2762250" y="3810000"/>
            <a:ext cx="333375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B0A4A8-176F-4B9B-9115-146F6B42EC9B}"/>
              </a:ext>
            </a:extLst>
          </p:cNvPr>
          <p:cNvSpPr>
            <a:spLocks noGrp="1"/>
          </p:cNvSpPr>
          <p:nvPr/>
        </p:nvSpPr>
        <p:spPr>
          <a:xfrm>
            <a:off x="2857500" y="38862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固定校正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451AF37-D41C-4529-AC74-C4843058ABA0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5143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7750C61-F930-4884-A3C5-E7DEAF7EA697}"/>
              </a:ext>
            </a:extLst>
          </p:cNvPr>
          <p:cNvSpPr>
            <a:spLocks noGrp="1"/>
          </p:cNvSpPr>
          <p:nvPr/>
        </p:nvSpPr>
        <p:spPr>
          <a:xfrm>
            <a:off x="6191250" y="3886200"/>
            <a:ext cx="495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讀值固定偏高 2，可填 -2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3A26A74-CDEF-4AAB-B856-6A31DD24230B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2095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D1D39BB-CB40-4C31-B73E-57E02CD3C43B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Byte / Word order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91A6D6A-125C-4E8F-9E57-4DA059AF66D5}"/>
              </a:ext>
            </a:extLst>
          </p:cNvPr>
          <p:cNvSpPr>
            <a:spLocks noGrp="1"/>
          </p:cNvSpPr>
          <p:nvPr/>
        </p:nvSpPr>
        <p:spPr>
          <a:xfrm>
            <a:off x="2762250" y="4324350"/>
            <a:ext cx="333375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8E3A9F-0ED8-494D-869B-9317B0B5A99C}"/>
              </a:ext>
            </a:extLst>
          </p:cNvPr>
          <p:cNvSpPr>
            <a:spLocks noGrp="1"/>
          </p:cNvSpPr>
          <p:nvPr/>
        </p:nvSpPr>
        <p:spPr>
          <a:xfrm>
            <a:off x="2857500" y="440055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Endian 順序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8641004-7CA9-4978-83D3-7AB363DD3AB8}"/>
              </a:ext>
            </a:extLst>
          </p:cNvPr>
          <p:cNvSpPr>
            <a:spLocks noGrp="1"/>
          </p:cNvSpPr>
          <p:nvPr/>
        </p:nvSpPr>
        <p:spPr>
          <a:xfrm>
            <a:off x="6096000" y="4324350"/>
            <a:ext cx="51435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DBAE38B-D5C4-4EDA-95FD-D5A8E1F08AA4}"/>
              </a:ext>
            </a:extLst>
          </p:cNvPr>
          <p:cNvSpPr>
            <a:spLocks noGrp="1"/>
          </p:cNvSpPr>
          <p:nvPr/>
        </p:nvSpPr>
        <p:spPr>
          <a:xfrm>
            <a:off x="6191250" y="4400550"/>
            <a:ext cx="495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float32 亂跳時嘗試切換</a:t>
            </a:r>
          </a:p>
        </p:txBody>
      </p:sp>
    </p:spTree>
    <p:extLst>
      <p:ext uri="{BB962C8B-B14F-4D97-AF65-F5344CB8AC3E}">
        <p14:creationId xmlns:p14="http://schemas.microsoft.com/office/powerpoint/2010/main" val="1147603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9F943AE2-32C4-4221-BE3B-B62DDC71B5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AD5056-7051-4510-BFE6-B8F014233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CBCC62-810D-4AC5-990A-6BD85385415A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現場操作順序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21F2B5-8205-486C-82BA-E1B885770602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照這個流程做，能最快確認問題在設備、設定還是轉發。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C5AF22-9ACC-437C-AEA5-1718BCC0F73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9FB6A1-32F7-4883-9CB6-C6A2E131A0BE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17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797563E-3105-4FE7-BB08-5D10E4068CB5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381250" cy="1333500"/>
          </a:xfrm>
          <a:prstGeom prst="roundRect">
            <a:avLst>
              <a:gd name="adj" fmla="val 8571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B181D2-3E9B-40A9-88F8-3A84A3CB4B72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57150" cy="133350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A18516-32ED-455B-862A-7624F19B1793}"/>
              </a:ext>
            </a:extLst>
          </p:cNvPr>
          <p:cNvSpPr>
            <a:spLocks noGrp="1"/>
          </p:cNvSpPr>
          <p:nvPr/>
        </p:nvSpPr>
        <p:spPr>
          <a:xfrm>
            <a:off x="971550" y="1581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1. 開頁面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A71A9F-A81B-4427-8F9A-6CB45133EB65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進入 IoT 感測器，確認 License 與功能頁能正常顯示。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19DEC51-96E2-46A4-A714-D9E406423FB8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2381250" cy="1333500"/>
          </a:xfrm>
          <a:prstGeom prst="roundRect">
            <a:avLst>
              <a:gd name="adj" fmla="val 8571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010BF3-8F34-48AB-86DD-1CD6BE82C961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57150" cy="13335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4C02B2-4A57-4637-907F-450036E94517}"/>
              </a:ext>
            </a:extLst>
          </p:cNvPr>
          <p:cNvSpPr>
            <a:spLocks noGrp="1"/>
          </p:cNvSpPr>
          <p:nvPr/>
        </p:nvSpPr>
        <p:spPr>
          <a:xfrm>
            <a:off x="3733800" y="1581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2. 新增設備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2A1F4-02BE-4942-A2A8-9CB0C3D89707}"/>
              </a:ext>
            </a:extLst>
          </p:cNvPr>
          <p:cNvSpPr>
            <a:spLocks noGrp="1"/>
          </p:cNvSpPr>
          <p:nvPr/>
        </p:nvSpPr>
        <p:spPr>
          <a:xfrm>
            <a:off x="3733800" y="1943100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選 TCP、RTU、RS485 或 RTU over TCP，填入通訊與暫存器欄位。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C5F26C1-5B37-4CD7-8C73-076535CF0FEF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2381250" cy="1333500"/>
          </a:xfrm>
          <a:prstGeom prst="roundRect">
            <a:avLst>
              <a:gd name="adj" fmla="val 8571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DD4660-85C3-424B-B67F-B8B5CEC7F8F2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57150" cy="13335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5D4014-79B0-4187-916A-9434E029329F}"/>
              </a:ext>
            </a:extLst>
          </p:cNvPr>
          <p:cNvSpPr>
            <a:spLocks noGrp="1"/>
          </p:cNvSpPr>
          <p:nvPr/>
        </p:nvSpPr>
        <p:spPr>
          <a:xfrm>
            <a:off x="6496050" y="1581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3. 立即 Poll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88CE5D-D05A-4426-89E1-C39E3CF8F436}"/>
              </a:ext>
            </a:extLst>
          </p:cNvPr>
          <p:cNvSpPr>
            <a:spLocks noGrp="1"/>
          </p:cNvSpPr>
          <p:nvPr/>
        </p:nvSpPr>
        <p:spPr>
          <a:xfrm>
            <a:off x="6496050" y="1943100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不要等排程，新增後先手動 Poll 驗證讀值。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7F69727-1136-4EA5-8F3E-130CCBCD1081}"/>
              </a:ext>
            </a:extLst>
          </p:cNvPr>
          <p:cNvSpPr>
            <a:spLocks noGrp="1"/>
          </p:cNvSpPr>
          <p:nvPr/>
        </p:nvSpPr>
        <p:spPr>
          <a:xfrm>
            <a:off x="9048750" y="1428750"/>
            <a:ext cx="2381250" cy="1333500"/>
          </a:xfrm>
          <a:prstGeom prst="roundRect">
            <a:avLst>
              <a:gd name="adj" fmla="val 8571"/>
            </a:avLst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573EC51-580C-4597-BF0B-3A0E0F65D053}"/>
              </a:ext>
            </a:extLst>
          </p:cNvPr>
          <p:cNvSpPr>
            <a:spLocks noGrp="1"/>
          </p:cNvSpPr>
          <p:nvPr/>
        </p:nvSpPr>
        <p:spPr>
          <a:xfrm>
            <a:off x="9048750" y="1428750"/>
            <a:ext cx="57150" cy="133350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A864EE-5455-444E-9E7D-1D803D83F91F}"/>
              </a:ext>
            </a:extLst>
          </p:cNvPr>
          <p:cNvSpPr>
            <a:spLocks noGrp="1"/>
          </p:cNvSpPr>
          <p:nvPr/>
        </p:nvSpPr>
        <p:spPr>
          <a:xfrm>
            <a:off x="9258300" y="1581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4. 看量測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AC17C1-FA46-47FF-8A3A-390941FE83D7}"/>
              </a:ext>
            </a:extLst>
          </p:cNvPr>
          <p:cNvSpPr>
            <a:spLocks noGrp="1"/>
          </p:cNvSpPr>
          <p:nvPr/>
        </p:nvSpPr>
        <p:spPr>
          <a:xfrm>
            <a:off x="9258300" y="1943100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9C2D3"/>
                </a:solidFill>
              </a:defRPr>
            </a:pPr>
            <a:r>
              <a:rPr sz="1200" b="0">
                <a:solidFill>
                  <a:srgbClr val="B9C2D3"/>
                </a:solidFill>
              </a:rPr>
              <a:t>回設備管理確認 Last value、Last seen 與最近量測資料。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B28356BB-B229-48FC-AFD1-D9DFE466EBB2}"/>
              </a:ext>
            </a:extLst>
          </p:cNvPr>
          <p:cNvSpPr>
            <a:spLocks noGrp="1"/>
          </p:cNvSpPr>
          <p:nvPr/>
        </p:nvSpPr>
        <p:spPr>
          <a:xfrm>
            <a:off x="1238250" y="3781425"/>
            <a:ext cx="95250" cy="9525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800B20-79F6-4BCD-8C5F-A998B7096207}"/>
              </a:ext>
            </a:extLst>
          </p:cNvPr>
          <p:cNvSpPr>
            <a:spLocks noGrp="1"/>
          </p:cNvSpPr>
          <p:nvPr/>
        </p:nvSpPr>
        <p:spPr>
          <a:xfrm>
            <a:off x="1466850" y="3714750"/>
            <a:ext cx="9296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讀不到：先檢查 IP / Port / Serial Port / Unit ID。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BC026AF-3CB0-4CB0-B324-1CEBF254A443}"/>
              </a:ext>
            </a:extLst>
          </p:cNvPr>
          <p:cNvSpPr>
            <a:spLocks noGrp="1"/>
          </p:cNvSpPr>
          <p:nvPr/>
        </p:nvSpPr>
        <p:spPr>
          <a:xfrm>
            <a:off x="1238250" y="4295775"/>
            <a:ext cx="95250" cy="9525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7D07B5-E39D-487A-9743-D9E7A688F446}"/>
              </a:ext>
            </a:extLst>
          </p:cNvPr>
          <p:cNvSpPr>
            <a:spLocks noGrp="1"/>
          </p:cNvSpPr>
          <p:nvPr/>
        </p:nvSpPr>
        <p:spPr>
          <a:xfrm>
            <a:off x="1466850" y="4229100"/>
            <a:ext cx="9296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讀到但值怪：檢查 Register address、Data type、Scale、Byte order、Word order。</a:t>
            </a: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9E17251E-3DE2-4BC9-A110-199719DF1718}"/>
              </a:ext>
            </a:extLst>
          </p:cNvPr>
          <p:cNvSpPr>
            <a:spLocks noGrp="1"/>
          </p:cNvSpPr>
          <p:nvPr/>
        </p:nvSpPr>
        <p:spPr>
          <a:xfrm>
            <a:off x="1238250" y="4810125"/>
            <a:ext cx="95250" cy="9525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8B5D448-F7EB-4F19-9B9F-C6C81B3C5E09}"/>
              </a:ext>
            </a:extLst>
          </p:cNvPr>
          <p:cNvSpPr>
            <a:spLocks noGrp="1"/>
          </p:cNvSpPr>
          <p:nvPr/>
        </p:nvSpPr>
        <p:spPr>
          <a:xfrm>
            <a:off x="1466850" y="4743450"/>
            <a:ext cx="9296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讀值正常但客戶收不到：檢查 HTTP 轉發佇列狀態。</a:t>
            </a:r>
          </a:p>
        </p:txBody>
      </p:sp>
    </p:spTree>
    <p:extLst>
      <p:ext uri="{BB962C8B-B14F-4D97-AF65-F5344CB8AC3E}">
        <p14:creationId xmlns:p14="http://schemas.microsoft.com/office/powerpoint/2010/main" val="1385213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3EACF747-EBF2-4991-AF1A-525F064ED7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ECCB84-F0DE-4CF1-87B9-139E14FFA1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C5C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54C8AE-4619-465E-B5F2-3F7571CFD25D}"/>
              </a:ext>
            </a:extLst>
          </p:cNvPr>
          <p:cNvSpPr>
            <a:spLocks noGrp="1"/>
          </p:cNvSpPr>
          <p:nvPr/>
        </p:nvSpPr>
        <p:spPr>
          <a:xfrm>
            <a:off x="5334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常見問題對照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455B00-E575-47F7-9F6A-0FF3F365C983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B9C2D3"/>
                </a:solidFill>
              </a:defRPr>
            </a:pPr>
            <a:r>
              <a:rPr sz="1275" b="0">
                <a:solidFill>
                  <a:srgbClr val="B9C2D3"/>
                </a:solidFill>
              </a:rPr>
              <a:t>用畫面上的狀態反推該檢查哪個設定。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70DFE5-6233-44D4-833D-248078AC9B42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7F8AA3"/>
                </a:solidFill>
              </a:defRPr>
            </a:pPr>
            <a:r>
              <a:rPr sz="900" b="0">
                <a:solidFill>
                  <a:srgbClr val="7F8AA3"/>
                </a:solidFill>
              </a:rPr>
              <a:t>IoT / Modbus 圖文操作手冊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4DF6D7-4DF4-4757-84B3-041A2A097B5A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F8AA3"/>
                </a:solidFill>
              </a:defRPr>
            </a:pPr>
            <a:r>
              <a:rPr sz="1050" b="0">
                <a:solidFill>
                  <a:srgbClr val="7F8AA3"/>
                </a:solidFill>
              </a:rPr>
              <a:t>18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2FFDB2-56FC-4335-9DA8-9311012E45C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26670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4E2D37-4E9C-4CD6-98B7-CEA517157E36}"/>
              </a:ext>
            </a:extLst>
          </p:cNvPr>
          <p:cNvSpPr>
            <a:spLocks noGrp="1"/>
          </p:cNvSpPr>
          <p:nvPr/>
        </p:nvSpPr>
        <p:spPr>
          <a:xfrm>
            <a:off x="781050" y="14573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現象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3EB5F4-D764-45B4-AAC1-E3D0D78D3D51}"/>
              </a:ext>
            </a:extLst>
          </p:cNvPr>
          <p:cNvSpPr>
            <a:spLocks noGrp="1"/>
          </p:cNvSpPr>
          <p:nvPr/>
        </p:nvSpPr>
        <p:spPr>
          <a:xfrm>
            <a:off x="3352800" y="1381125"/>
            <a:ext cx="323850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49BCD0-C122-4F18-8D64-0E76E41ADD8A}"/>
              </a:ext>
            </a:extLst>
          </p:cNvPr>
          <p:cNvSpPr>
            <a:spLocks noGrp="1"/>
          </p:cNvSpPr>
          <p:nvPr/>
        </p:nvSpPr>
        <p:spPr>
          <a:xfrm>
            <a:off x="3448050" y="14573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可能原因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3C8FF7-BCDC-45A2-8C71-1CA8298BD979}"/>
              </a:ext>
            </a:extLst>
          </p:cNvPr>
          <p:cNvSpPr>
            <a:spLocks noGrp="1"/>
          </p:cNvSpPr>
          <p:nvPr/>
        </p:nvSpPr>
        <p:spPr>
          <a:xfrm>
            <a:off x="6591300" y="1381125"/>
            <a:ext cx="4667250" cy="400050"/>
          </a:xfrm>
          <a:prstGeom prst="rect">
            <a:avLst/>
          </a:prstGeom>
          <a:solidFill>
            <a:srgbClr val="7C5CFF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C2A260-60E7-466E-925D-E2EE9DE51312}"/>
              </a:ext>
            </a:extLst>
          </p:cNvPr>
          <p:cNvSpPr>
            <a:spLocks noGrp="1"/>
          </p:cNvSpPr>
          <p:nvPr/>
        </p:nvSpPr>
        <p:spPr>
          <a:xfrm>
            <a:off x="6686550" y="14573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處理方式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843A8F-3D64-4CAA-AA06-2A3177AACFF5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26670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F58652-D58F-4DB1-8384-B7B5CFEB0A64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IoT 頁只顯示授權提示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31B6B9-0ECC-4995-AD68-49ACCC55FB5E}"/>
              </a:ext>
            </a:extLst>
          </p:cNvPr>
          <p:cNvSpPr>
            <a:spLocks noGrp="1"/>
          </p:cNvSpPr>
          <p:nvPr/>
        </p:nvSpPr>
        <p:spPr>
          <a:xfrm>
            <a:off x="3352800" y="1781175"/>
            <a:ext cx="323850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DB5F9F-E124-404F-B624-44F247CB8D4E}"/>
              </a:ext>
            </a:extLst>
          </p:cNvPr>
          <p:cNvSpPr>
            <a:spLocks noGrp="1"/>
          </p:cNvSpPr>
          <p:nvPr/>
        </p:nvSpPr>
        <p:spPr>
          <a:xfrm>
            <a:off x="3448050" y="1857375"/>
            <a:ext cx="304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IoT License 未啟用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71872A-C993-4F21-AD37-580C074D76E4}"/>
              </a:ext>
            </a:extLst>
          </p:cNvPr>
          <p:cNvSpPr>
            <a:spLocks noGrp="1"/>
          </p:cNvSpPr>
          <p:nvPr/>
        </p:nvSpPr>
        <p:spPr>
          <a:xfrm>
            <a:off x="6591300" y="1781175"/>
            <a:ext cx="466725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7E992A-4E59-47A5-A181-5ED1F079D48E}"/>
              </a:ext>
            </a:extLst>
          </p:cNvPr>
          <p:cNvSpPr>
            <a:spLocks noGrp="1"/>
          </p:cNvSpPr>
          <p:nvPr/>
        </p:nvSpPr>
        <p:spPr>
          <a:xfrm>
            <a:off x="6686550" y="1857375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到授權管理匯入含 iot 功能的 License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AEB72E-93FB-4632-8292-09E02F5E0EF4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26670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3387F1-F3E3-44AB-BFF9-8C2255D1CAD5}"/>
              </a:ext>
            </a:extLst>
          </p:cNvPr>
          <p:cNvSpPr>
            <a:spLocks noGrp="1"/>
          </p:cNvSpPr>
          <p:nvPr/>
        </p:nvSpPr>
        <p:spPr>
          <a:xfrm>
            <a:off x="781050" y="237172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Poll timeout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5A278E-46B8-4A4F-BBD2-3C7924523F36}"/>
              </a:ext>
            </a:extLst>
          </p:cNvPr>
          <p:cNvSpPr>
            <a:spLocks noGrp="1"/>
          </p:cNvSpPr>
          <p:nvPr/>
        </p:nvSpPr>
        <p:spPr>
          <a:xfrm>
            <a:off x="3352800" y="2295525"/>
            <a:ext cx="323850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D76C2F-77F0-42AD-9CB3-5269BFE5C06C}"/>
              </a:ext>
            </a:extLst>
          </p:cNvPr>
          <p:cNvSpPr>
            <a:spLocks noGrp="1"/>
          </p:cNvSpPr>
          <p:nvPr/>
        </p:nvSpPr>
        <p:spPr>
          <a:xfrm>
            <a:off x="3448050" y="2371725"/>
            <a:ext cx="304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網路不通或序列參數錯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33A810-95C6-4AF3-B335-D7AD92657FCB}"/>
              </a:ext>
            </a:extLst>
          </p:cNvPr>
          <p:cNvSpPr>
            <a:spLocks noGrp="1"/>
          </p:cNvSpPr>
          <p:nvPr/>
        </p:nvSpPr>
        <p:spPr>
          <a:xfrm>
            <a:off x="6591300" y="2295525"/>
            <a:ext cx="466725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C70845-13DC-4984-96C4-36E9E0ECA408}"/>
              </a:ext>
            </a:extLst>
          </p:cNvPr>
          <p:cNvSpPr>
            <a:spLocks noGrp="1"/>
          </p:cNvSpPr>
          <p:nvPr/>
        </p:nvSpPr>
        <p:spPr>
          <a:xfrm>
            <a:off x="6686550" y="2371725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檢查 IP、Port、baud、parity、stop bits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F44064-59B4-4A85-8C42-958F8DC97ACC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26670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E56B1A-9F57-4E17-8632-5DB5F7D3483E}"/>
              </a:ext>
            </a:extLst>
          </p:cNvPr>
          <p:cNvSpPr>
            <a:spLocks noGrp="1"/>
          </p:cNvSpPr>
          <p:nvPr/>
        </p:nvSpPr>
        <p:spPr>
          <a:xfrm>
            <a:off x="781050" y="28860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CRC mismatch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28CC5-F53E-4A58-AB35-3435E700BD8C}"/>
              </a:ext>
            </a:extLst>
          </p:cNvPr>
          <p:cNvSpPr>
            <a:spLocks noGrp="1"/>
          </p:cNvSpPr>
          <p:nvPr/>
        </p:nvSpPr>
        <p:spPr>
          <a:xfrm>
            <a:off x="3352800" y="2809875"/>
            <a:ext cx="323850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6749379-7360-4ECD-9825-25A14CA670F7}"/>
              </a:ext>
            </a:extLst>
          </p:cNvPr>
          <p:cNvSpPr>
            <a:spLocks noGrp="1"/>
          </p:cNvSpPr>
          <p:nvPr/>
        </p:nvSpPr>
        <p:spPr>
          <a:xfrm>
            <a:off x="3448050" y="2886075"/>
            <a:ext cx="304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RTU 線路或參數不符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71366E8-AB5D-4C1E-843D-BD5D05E62768}"/>
              </a:ext>
            </a:extLst>
          </p:cNvPr>
          <p:cNvSpPr>
            <a:spLocks noGrp="1"/>
          </p:cNvSpPr>
          <p:nvPr/>
        </p:nvSpPr>
        <p:spPr>
          <a:xfrm>
            <a:off x="6591300" y="2809875"/>
            <a:ext cx="466725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B4FE0BC-4F2D-4543-B20F-65C8173A1011}"/>
              </a:ext>
            </a:extLst>
          </p:cNvPr>
          <p:cNvSpPr>
            <a:spLocks noGrp="1"/>
          </p:cNvSpPr>
          <p:nvPr/>
        </p:nvSpPr>
        <p:spPr>
          <a:xfrm>
            <a:off x="6686550" y="2886075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檢查 A/B 線、終端電阻、baud、parity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AEF720-42AB-4071-8E51-4C9380696096}"/>
              </a:ext>
            </a:extLst>
          </p:cNvPr>
          <p:cNvSpPr>
            <a:spLocks noGrp="1"/>
          </p:cNvSpPr>
          <p:nvPr/>
        </p:nvSpPr>
        <p:spPr>
          <a:xfrm>
            <a:off x="685800" y="3324225"/>
            <a:ext cx="26670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7BE783-E299-4C5E-A2CE-6E90BD8C700A}"/>
              </a:ext>
            </a:extLst>
          </p:cNvPr>
          <p:cNvSpPr>
            <a:spLocks noGrp="1"/>
          </p:cNvSpPr>
          <p:nvPr/>
        </p:nvSpPr>
        <p:spPr>
          <a:xfrm>
            <a:off x="781050" y="340042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數值差 10 倍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CDA44B-6799-421C-895C-611E69395CFC}"/>
              </a:ext>
            </a:extLst>
          </p:cNvPr>
          <p:cNvSpPr>
            <a:spLocks noGrp="1"/>
          </p:cNvSpPr>
          <p:nvPr/>
        </p:nvSpPr>
        <p:spPr>
          <a:xfrm>
            <a:off x="3352800" y="3324225"/>
            <a:ext cx="323850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F00A62A-9B79-490C-ACB7-D8101E5030AA}"/>
              </a:ext>
            </a:extLst>
          </p:cNvPr>
          <p:cNvSpPr>
            <a:spLocks noGrp="1"/>
          </p:cNvSpPr>
          <p:nvPr/>
        </p:nvSpPr>
        <p:spPr>
          <a:xfrm>
            <a:off x="3448050" y="3400425"/>
            <a:ext cx="304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Scale 設錯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4E6FA14-286E-4432-BD35-BC1330F64166}"/>
              </a:ext>
            </a:extLst>
          </p:cNvPr>
          <p:cNvSpPr>
            <a:spLocks noGrp="1"/>
          </p:cNvSpPr>
          <p:nvPr/>
        </p:nvSpPr>
        <p:spPr>
          <a:xfrm>
            <a:off x="6591300" y="3324225"/>
            <a:ext cx="466725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140EE81-3A1F-4BB1-83DA-8D76500F2BFD}"/>
              </a:ext>
            </a:extLst>
          </p:cNvPr>
          <p:cNvSpPr>
            <a:spLocks noGrp="1"/>
          </p:cNvSpPr>
          <p:nvPr/>
        </p:nvSpPr>
        <p:spPr>
          <a:xfrm>
            <a:off x="6686550" y="3400425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依手冊改成 0.1 或 0.01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3C0A67A-8D0D-4F99-A084-D44659E92506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26670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933E442-68A0-45C1-BF48-A556CCC8D99E}"/>
              </a:ext>
            </a:extLst>
          </p:cNvPr>
          <p:cNvSpPr>
            <a:spLocks noGrp="1"/>
          </p:cNvSpPr>
          <p:nvPr/>
        </p:nvSpPr>
        <p:spPr>
          <a:xfrm>
            <a:off x="781050" y="39147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Forward pending 增加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8B38384-767B-42A4-B186-FF4F11B39BBA}"/>
              </a:ext>
            </a:extLst>
          </p:cNvPr>
          <p:cNvSpPr>
            <a:spLocks noGrp="1"/>
          </p:cNvSpPr>
          <p:nvPr/>
        </p:nvSpPr>
        <p:spPr>
          <a:xfrm>
            <a:off x="3352800" y="3838575"/>
            <a:ext cx="323850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A8F7076-9542-4046-AE13-F5E1B960AD9A}"/>
              </a:ext>
            </a:extLst>
          </p:cNvPr>
          <p:cNvSpPr>
            <a:spLocks noGrp="1"/>
          </p:cNvSpPr>
          <p:nvPr/>
        </p:nvSpPr>
        <p:spPr>
          <a:xfrm>
            <a:off x="3448050" y="3914775"/>
            <a:ext cx="304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Webhook 未通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4C58A33-1383-4B45-BC40-2A5D3B4DE967}"/>
              </a:ext>
            </a:extLst>
          </p:cNvPr>
          <p:cNvSpPr>
            <a:spLocks noGrp="1"/>
          </p:cNvSpPr>
          <p:nvPr/>
        </p:nvSpPr>
        <p:spPr>
          <a:xfrm>
            <a:off x="6591300" y="3838575"/>
            <a:ext cx="466725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4A5E637-0329-45D6-BB92-8108516689BF}"/>
              </a:ext>
            </a:extLst>
          </p:cNvPr>
          <p:cNvSpPr>
            <a:spLocks noGrp="1"/>
          </p:cNvSpPr>
          <p:nvPr/>
        </p:nvSpPr>
        <p:spPr>
          <a:xfrm>
            <a:off x="6686550" y="3914775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檢查 URL、Token、對方 API，按立即清空重送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1CB0FD0-9012-4108-8E68-813412753DBA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266700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D76C164-EFFD-485D-A050-C7EE6FD7EA36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iframe 空白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9F54268-087F-488E-BD37-D9E5707EFB17}"/>
              </a:ext>
            </a:extLst>
          </p:cNvPr>
          <p:cNvSpPr>
            <a:spLocks noGrp="1"/>
          </p:cNvSpPr>
          <p:nvPr/>
        </p:nvSpPr>
        <p:spPr>
          <a:xfrm>
            <a:off x="3352800" y="4352925"/>
            <a:ext cx="3238500" cy="514350"/>
          </a:xfrm>
          <a:prstGeom prst="rect">
            <a:avLst/>
          </a:prstGeom>
          <a:solidFill>
            <a:srgbClr val="15243A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7AEE13-2535-4C41-B4D0-4B2D061E3699}"/>
              </a:ext>
            </a:extLst>
          </p:cNvPr>
          <p:cNvSpPr>
            <a:spLocks noGrp="1"/>
          </p:cNvSpPr>
          <p:nvPr/>
        </p:nvSpPr>
        <p:spPr>
          <a:xfrm>
            <a:off x="3448050" y="4429125"/>
            <a:ext cx="304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Token 或 Allowlist 問題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C9E0EFA-8433-4AA7-B6C6-43D7C8C5DBCA}"/>
              </a:ext>
            </a:extLst>
          </p:cNvPr>
          <p:cNvSpPr>
            <a:spLocks noGrp="1"/>
          </p:cNvSpPr>
          <p:nvPr/>
        </p:nvSpPr>
        <p:spPr>
          <a:xfrm>
            <a:off x="6591300" y="4352925"/>
            <a:ext cx="4667250" cy="514350"/>
          </a:xfrm>
          <a:prstGeom prst="rect">
            <a:avLst/>
          </a:prstGeom>
          <a:solidFill>
            <a:srgbClr val="101B2C"/>
          </a:solidFill>
          <a:ln w="9525">
            <a:solidFill>
              <a:srgbClr val="2A3B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12D0DED-A691-4778-8139-8F986C10E45E}"/>
              </a:ext>
            </a:extLst>
          </p:cNvPr>
          <p:cNvSpPr>
            <a:spLocks noGrp="1"/>
          </p:cNvSpPr>
          <p:nvPr/>
        </p:nvSpPr>
        <p:spPr>
          <a:xfrm>
            <a:off x="6686550" y="4429125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重新產生 Token 並加入入口網站 origin</a:t>
            </a:r>
          </a:p>
        </p:txBody>
      </p:sp>
    </p:spTree>
    <p:extLst>
      <p:ext uri="{BB962C8B-B14F-4D97-AF65-F5344CB8AC3E}">
        <p14:creationId xmlns:p14="http://schemas.microsoft.com/office/powerpoint/2010/main" val="21282144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DocSecurity>0</DocSecurity>
  <PresentationFormat>寬螢幕</PresentationFormat>
  <Paragraphs>232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Yoyo chao 趙建揚</cp:lastModifiedBy>
  <cp:revision>1</cp:revision>
  <dcterms:created xsi:type="dcterms:W3CDTF">2026-07-08T14:16:47Z</dcterms:created>
  <dcterms:modified xsi:type="dcterms:W3CDTF">2026-07-08T14:21:34Z</dcterms:modified>
</cp:coreProperties>
</file>